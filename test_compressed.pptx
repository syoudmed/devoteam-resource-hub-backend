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692000" cx="7560000"/>
  <p:notesSz cx="6858000" cy="9144000"/>
  <p:embeddedFontLst>
    <p:embeddedFont>
      <p:font typeface="Montserrat SemiBold"/>
      <p:regular r:id="rId16"/>
      <p:bold r:id="rId17"/>
      <p:italic r:id="rId18"/>
      <p:boldItalic r:id="rId19"/>
    </p:embeddedFont>
    <p:embeddedFont>
      <p:font typeface="Montserrat"/>
      <p:regular r:id="rId20"/>
      <p:bold r:id="rId21"/>
      <p:italic r:id="rId22"/>
      <p:boldItalic r:id="rId23"/>
    </p:embeddedFont>
    <p:embeddedFont>
      <p:font typeface="Montserrat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23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MontserratLight-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Light-italic.fntdata"/><Relationship Id="rId25" Type="http://schemas.openxmlformats.org/officeDocument/2006/relationships/font" Target="fonts/MontserratLight-bold.fntdata"/><Relationship Id="rId27" Type="http://schemas.openxmlformats.org/officeDocument/2006/relationships/font" Target="fonts/Montserrat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SemiBold-bold.fntdata"/><Relationship Id="rId16" Type="http://schemas.openxmlformats.org/officeDocument/2006/relationships/font" Target="fonts/MontserratSemiBold-regular.fntdata"/><Relationship Id="rId19" Type="http://schemas.openxmlformats.org/officeDocument/2006/relationships/font" Target="fonts/MontserratSemiBold-boldItalic.fntdata"/><Relationship Id="rId18" Type="http://schemas.openxmlformats.org/officeDocument/2006/relationships/font" Target="fonts/Montserrat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9e93fc611_0_50: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9e93fc61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eb78a58c4e_0_0: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eb78a58c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c9e93fc611_0_191: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c9e93fc61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e851a85845_0_53: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e851a8584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e851a85845_0_69: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e851a8584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c9561aff3_0_6: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c9561af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e851a85845_0_102: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e851a8584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e851a85845_0_122: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e851a8584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c9561aff3_0_34: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c9561aff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c9561aff3_0_47:notes"/>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1c9561aff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7712" y="1547778"/>
            <a:ext cx="7044600" cy="4266900"/>
          </a:xfrm>
          <a:prstGeom prst="rect">
            <a:avLst/>
          </a:prstGeom>
        </p:spPr>
        <p:txBody>
          <a:bodyPr anchorCtr="0" anchor="b" bIns="125200" lIns="125200" spcFirstLastPara="1" rIns="125200" wrap="square" tIns="125200">
            <a:normAutofit/>
          </a:bodyPr>
          <a:lstStyle>
            <a:lvl1pPr lvl="0" algn="ctr">
              <a:spcBef>
                <a:spcPts val="0"/>
              </a:spcBef>
              <a:spcAft>
                <a:spcPts val="0"/>
              </a:spcAft>
              <a:buSzPts val="7100"/>
              <a:buNone/>
              <a:defRPr sz="7100"/>
            </a:lvl1pPr>
            <a:lvl2pPr lvl="1" algn="ctr">
              <a:spcBef>
                <a:spcPts val="0"/>
              </a:spcBef>
              <a:spcAft>
                <a:spcPts val="0"/>
              </a:spcAft>
              <a:buSzPts val="7100"/>
              <a:buNone/>
              <a:defRPr sz="7100"/>
            </a:lvl2pPr>
            <a:lvl3pPr lvl="2" algn="ctr">
              <a:spcBef>
                <a:spcPts val="0"/>
              </a:spcBef>
              <a:spcAft>
                <a:spcPts val="0"/>
              </a:spcAft>
              <a:buSzPts val="7100"/>
              <a:buNone/>
              <a:defRPr sz="7100"/>
            </a:lvl3pPr>
            <a:lvl4pPr lvl="3" algn="ctr">
              <a:spcBef>
                <a:spcPts val="0"/>
              </a:spcBef>
              <a:spcAft>
                <a:spcPts val="0"/>
              </a:spcAft>
              <a:buSzPts val="7100"/>
              <a:buNone/>
              <a:defRPr sz="7100"/>
            </a:lvl4pPr>
            <a:lvl5pPr lvl="4" algn="ctr">
              <a:spcBef>
                <a:spcPts val="0"/>
              </a:spcBef>
              <a:spcAft>
                <a:spcPts val="0"/>
              </a:spcAft>
              <a:buSzPts val="7100"/>
              <a:buNone/>
              <a:defRPr sz="7100"/>
            </a:lvl5pPr>
            <a:lvl6pPr lvl="5" algn="ctr">
              <a:spcBef>
                <a:spcPts val="0"/>
              </a:spcBef>
              <a:spcAft>
                <a:spcPts val="0"/>
              </a:spcAft>
              <a:buSzPts val="7100"/>
              <a:buNone/>
              <a:defRPr sz="7100"/>
            </a:lvl6pPr>
            <a:lvl7pPr lvl="6" algn="ctr">
              <a:spcBef>
                <a:spcPts val="0"/>
              </a:spcBef>
              <a:spcAft>
                <a:spcPts val="0"/>
              </a:spcAft>
              <a:buSzPts val="7100"/>
              <a:buNone/>
              <a:defRPr sz="7100"/>
            </a:lvl7pPr>
            <a:lvl8pPr lvl="7" algn="ctr">
              <a:spcBef>
                <a:spcPts val="0"/>
              </a:spcBef>
              <a:spcAft>
                <a:spcPts val="0"/>
              </a:spcAft>
              <a:buSzPts val="7100"/>
              <a:buNone/>
              <a:defRPr sz="7100"/>
            </a:lvl8pPr>
            <a:lvl9pPr lvl="8" algn="ctr">
              <a:spcBef>
                <a:spcPts val="0"/>
              </a:spcBef>
              <a:spcAft>
                <a:spcPts val="0"/>
              </a:spcAft>
              <a:buSzPts val="7100"/>
              <a:buNone/>
              <a:defRPr sz="7100"/>
            </a:lvl9pPr>
          </a:lstStyle>
          <a:p/>
        </p:txBody>
      </p:sp>
      <p:sp>
        <p:nvSpPr>
          <p:cNvPr id="11" name="Google Shape;11;p2"/>
          <p:cNvSpPr txBox="1"/>
          <p:nvPr>
            <p:ph idx="1" type="subTitle"/>
          </p:nvPr>
        </p:nvSpPr>
        <p:spPr>
          <a:xfrm>
            <a:off x="257705" y="5891409"/>
            <a:ext cx="7044600" cy="1647600"/>
          </a:xfrm>
          <a:prstGeom prst="rect">
            <a:avLst/>
          </a:prstGeom>
        </p:spPr>
        <p:txBody>
          <a:bodyPr anchorCtr="0" anchor="t" bIns="125200" lIns="125200" spcFirstLastPara="1" rIns="125200" wrap="square" tIns="12520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12" name="Google Shape;12;p2"/>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7705" y="4471058"/>
            <a:ext cx="7044600" cy="1749600"/>
          </a:xfrm>
          <a:prstGeom prst="rect">
            <a:avLst/>
          </a:prstGeom>
        </p:spPr>
        <p:txBody>
          <a:bodyPr anchorCtr="0" anchor="ctr" bIns="125200" lIns="125200" spcFirstLastPara="1" rIns="125200" wrap="square" tIns="125200">
            <a:normAutofit/>
          </a:bodyPr>
          <a:lstStyle>
            <a:lvl1pPr lvl="0" algn="ctr">
              <a:spcBef>
                <a:spcPts val="0"/>
              </a:spcBef>
              <a:spcAft>
                <a:spcPts val="0"/>
              </a:spcAft>
              <a:buSzPts val="4900"/>
              <a:buNone/>
              <a:defRPr sz="4900"/>
            </a:lvl1pPr>
            <a:lvl2pPr lvl="1" algn="ctr">
              <a:spcBef>
                <a:spcPts val="0"/>
              </a:spcBef>
              <a:spcAft>
                <a:spcPts val="0"/>
              </a:spcAft>
              <a:buSzPts val="4900"/>
              <a:buNone/>
              <a:defRPr sz="4900"/>
            </a:lvl2pPr>
            <a:lvl3pPr lvl="2" algn="ctr">
              <a:spcBef>
                <a:spcPts val="0"/>
              </a:spcBef>
              <a:spcAft>
                <a:spcPts val="0"/>
              </a:spcAft>
              <a:buSzPts val="4900"/>
              <a:buNone/>
              <a:defRPr sz="4900"/>
            </a:lvl3pPr>
            <a:lvl4pPr lvl="3" algn="ctr">
              <a:spcBef>
                <a:spcPts val="0"/>
              </a:spcBef>
              <a:spcAft>
                <a:spcPts val="0"/>
              </a:spcAft>
              <a:buSzPts val="4900"/>
              <a:buNone/>
              <a:defRPr sz="4900"/>
            </a:lvl4pPr>
            <a:lvl5pPr lvl="4" algn="ctr">
              <a:spcBef>
                <a:spcPts val="0"/>
              </a:spcBef>
              <a:spcAft>
                <a:spcPts val="0"/>
              </a:spcAft>
              <a:buSzPts val="4900"/>
              <a:buNone/>
              <a:defRPr sz="4900"/>
            </a:lvl5pPr>
            <a:lvl6pPr lvl="5" algn="ctr">
              <a:spcBef>
                <a:spcPts val="0"/>
              </a:spcBef>
              <a:spcAft>
                <a:spcPts val="0"/>
              </a:spcAft>
              <a:buSzPts val="4900"/>
              <a:buNone/>
              <a:defRPr sz="4900"/>
            </a:lvl6pPr>
            <a:lvl7pPr lvl="6" algn="ctr">
              <a:spcBef>
                <a:spcPts val="0"/>
              </a:spcBef>
              <a:spcAft>
                <a:spcPts val="0"/>
              </a:spcAft>
              <a:buSzPts val="4900"/>
              <a:buNone/>
              <a:defRPr sz="4900"/>
            </a:lvl7pPr>
            <a:lvl8pPr lvl="7" algn="ctr">
              <a:spcBef>
                <a:spcPts val="0"/>
              </a:spcBef>
              <a:spcAft>
                <a:spcPts val="0"/>
              </a:spcAft>
              <a:buSzPts val="4900"/>
              <a:buNone/>
              <a:defRPr sz="4900"/>
            </a:lvl8pPr>
            <a:lvl9pPr lvl="8" algn="ctr">
              <a:spcBef>
                <a:spcPts val="0"/>
              </a:spcBef>
              <a:spcAft>
                <a:spcPts val="0"/>
              </a:spcAft>
              <a:buSzPts val="4900"/>
              <a:buNone/>
              <a:defRPr sz="4900"/>
            </a:lvl9pPr>
          </a:lstStyle>
          <a:p/>
        </p:txBody>
      </p:sp>
      <p:sp>
        <p:nvSpPr>
          <p:cNvPr id="15" name="Google Shape;15;p3"/>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7705" y="925091"/>
            <a:ext cx="7044600" cy="1190700"/>
          </a:xfrm>
          <a:prstGeom prst="rect">
            <a:avLst/>
          </a:prstGeom>
        </p:spPr>
        <p:txBody>
          <a:bodyPr anchorCtr="0" anchor="t" bIns="125200" lIns="125200" spcFirstLastPara="1" rIns="125200" wrap="square" tIns="12520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257705" y="2395696"/>
            <a:ext cx="7044600" cy="7101600"/>
          </a:xfrm>
          <a:prstGeom prst="rect">
            <a:avLst/>
          </a:prstGeom>
        </p:spPr>
        <p:txBody>
          <a:bodyPr anchorCtr="0" anchor="t" bIns="125200" lIns="125200" spcFirstLastPara="1" rIns="125200" wrap="square" tIns="125200">
            <a:normAutofit/>
          </a:bodyPr>
          <a:lstStyle>
            <a:lvl1pPr indent="-387350" lvl="0" marL="457200">
              <a:spcBef>
                <a:spcPts val="0"/>
              </a:spcBef>
              <a:spcAft>
                <a:spcPts val="0"/>
              </a:spcAft>
              <a:buSzPts val="25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7705" y="925091"/>
            <a:ext cx="7044600" cy="1190700"/>
          </a:xfrm>
          <a:prstGeom prst="rect">
            <a:avLst/>
          </a:prstGeom>
        </p:spPr>
        <p:txBody>
          <a:bodyPr anchorCtr="0" anchor="t" bIns="125200" lIns="125200" spcFirstLastPara="1" rIns="125200" wrap="square" tIns="12520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2" name="Google Shape;22;p5"/>
          <p:cNvSpPr txBox="1"/>
          <p:nvPr>
            <p:ph idx="1" type="body"/>
          </p:nvPr>
        </p:nvSpPr>
        <p:spPr>
          <a:xfrm>
            <a:off x="257705" y="2395696"/>
            <a:ext cx="3306900" cy="7101600"/>
          </a:xfrm>
          <a:prstGeom prst="rect">
            <a:avLst/>
          </a:prstGeom>
        </p:spPr>
        <p:txBody>
          <a:bodyPr anchorCtr="0" anchor="t" bIns="125200" lIns="125200" spcFirstLastPara="1" rIns="125200" wrap="square" tIns="1252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3995291" y="2395696"/>
            <a:ext cx="3306900" cy="7101600"/>
          </a:xfrm>
          <a:prstGeom prst="rect">
            <a:avLst/>
          </a:prstGeom>
        </p:spPr>
        <p:txBody>
          <a:bodyPr anchorCtr="0" anchor="t" bIns="125200" lIns="125200" spcFirstLastPara="1" rIns="125200" wrap="square" tIns="1252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7705" y="925091"/>
            <a:ext cx="7044600" cy="1190700"/>
          </a:xfrm>
          <a:prstGeom prst="rect">
            <a:avLst/>
          </a:prstGeom>
        </p:spPr>
        <p:txBody>
          <a:bodyPr anchorCtr="0" anchor="t" bIns="125200" lIns="125200" spcFirstLastPara="1" rIns="125200" wrap="square" tIns="12520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7" name="Google Shape;27;p6"/>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7705" y="1154948"/>
            <a:ext cx="2321700" cy="1570800"/>
          </a:xfrm>
          <a:prstGeom prst="rect">
            <a:avLst/>
          </a:prstGeom>
        </p:spPr>
        <p:txBody>
          <a:bodyPr anchorCtr="0" anchor="b" bIns="125200" lIns="125200" spcFirstLastPara="1" rIns="125200" wrap="square" tIns="125200">
            <a:normAutofit/>
          </a:bodyPr>
          <a:lstStyle>
            <a:lvl1pPr lvl="0">
              <a:spcBef>
                <a:spcPts val="0"/>
              </a:spcBef>
              <a:spcAft>
                <a:spcPts val="0"/>
              </a:spcAft>
              <a:buSzPts val="3300"/>
              <a:buNone/>
              <a:defRPr sz="3300"/>
            </a:lvl1pPr>
            <a:lvl2pPr lvl="1">
              <a:spcBef>
                <a:spcPts val="0"/>
              </a:spcBef>
              <a:spcAft>
                <a:spcPts val="0"/>
              </a:spcAft>
              <a:buSzPts val="3300"/>
              <a:buNone/>
              <a:defRPr sz="3300"/>
            </a:lvl2pPr>
            <a:lvl3pPr lvl="2">
              <a:spcBef>
                <a:spcPts val="0"/>
              </a:spcBef>
              <a:spcAft>
                <a:spcPts val="0"/>
              </a:spcAft>
              <a:buSzPts val="3300"/>
              <a:buNone/>
              <a:defRPr sz="3300"/>
            </a:lvl3pPr>
            <a:lvl4pPr lvl="3">
              <a:spcBef>
                <a:spcPts val="0"/>
              </a:spcBef>
              <a:spcAft>
                <a:spcPts val="0"/>
              </a:spcAft>
              <a:buSzPts val="3300"/>
              <a:buNone/>
              <a:defRPr sz="3300"/>
            </a:lvl4pPr>
            <a:lvl5pPr lvl="4">
              <a:spcBef>
                <a:spcPts val="0"/>
              </a:spcBef>
              <a:spcAft>
                <a:spcPts val="0"/>
              </a:spcAft>
              <a:buSzPts val="3300"/>
              <a:buNone/>
              <a:defRPr sz="3300"/>
            </a:lvl5pPr>
            <a:lvl6pPr lvl="5">
              <a:spcBef>
                <a:spcPts val="0"/>
              </a:spcBef>
              <a:spcAft>
                <a:spcPts val="0"/>
              </a:spcAft>
              <a:buSzPts val="3300"/>
              <a:buNone/>
              <a:defRPr sz="3300"/>
            </a:lvl6pPr>
            <a:lvl7pPr lvl="6">
              <a:spcBef>
                <a:spcPts val="0"/>
              </a:spcBef>
              <a:spcAft>
                <a:spcPts val="0"/>
              </a:spcAft>
              <a:buSzPts val="3300"/>
              <a:buNone/>
              <a:defRPr sz="3300"/>
            </a:lvl7pPr>
            <a:lvl8pPr lvl="7">
              <a:spcBef>
                <a:spcPts val="0"/>
              </a:spcBef>
              <a:spcAft>
                <a:spcPts val="0"/>
              </a:spcAft>
              <a:buSzPts val="3300"/>
              <a:buNone/>
              <a:defRPr sz="3300"/>
            </a:lvl8pPr>
            <a:lvl9pPr lvl="8">
              <a:spcBef>
                <a:spcPts val="0"/>
              </a:spcBef>
              <a:spcAft>
                <a:spcPts val="0"/>
              </a:spcAft>
              <a:buSzPts val="3300"/>
              <a:buNone/>
              <a:defRPr sz="3300"/>
            </a:lvl9pPr>
          </a:lstStyle>
          <a:p/>
        </p:txBody>
      </p:sp>
      <p:sp>
        <p:nvSpPr>
          <p:cNvPr id="30" name="Google Shape;30;p7"/>
          <p:cNvSpPr txBox="1"/>
          <p:nvPr>
            <p:ph idx="1" type="body"/>
          </p:nvPr>
        </p:nvSpPr>
        <p:spPr>
          <a:xfrm>
            <a:off x="257705" y="2888617"/>
            <a:ext cx="2321700" cy="6609300"/>
          </a:xfrm>
          <a:prstGeom prst="rect">
            <a:avLst/>
          </a:prstGeom>
        </p:spPr>
        <p:txBody>
          <a:bodyPr anchorCtr="0" anchor="t" bIns="125200" lIns="125200" spcFirstLastPara="1" rIns="125200" wrap="square" tIns="1252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5325" y="935745"/>
            <a:ext cx="5264700" cy="8503800"/>
          </a:xfrm>
          <a:prstGeom prst="rect">
            <a:avLst/>
          </a:prstGeom>
        </p:spPr>
        <p:txBody>
          <a:bodyPr anchorCtr="0" anchor="ctr" bIns="125200" lIns="125200" spcFirstLastPara="1" rIns="125200" wrap="square" tIns="125200">
            <a:normAutofit/>
          </a:bodyPr>
          <a:lstStyle>
            <a:lvl1pPr lvl="0">
              <a:spcBef>
                <a:spcPts val="0"/>
              </a:spcBef>
              <a:spcAft>
                <a:spcPts val="0"/>
              </a:spcAft>
              <a:buSzPts val="6600"/>
              <a:buNone/>
              <a:defRPr sz="6600"/>
            </a:lvl1pPr>
            <a:lvl2pPr lvl="1">
              <a:spcBef>
                <a:spcPts val="0"/>
              </a:spcBef>
              <a:spcAft>
                <a:spcPts val="0"/>
              </a:spcAft>
              <a:buSzPts val="6600"/>
              <a:buNone/>
              <a:defRPr sz="6600"/>
            </a:lvl2pPr>
            <a:lvl3pPr lvl="2">
              <a:spcBef>
                <a:spcPts val="0"/>
              </a:spcBef>
              <a:spcAft>
                <a:spcPts val="0"/>
              </a:spcAft>
              <a:buSzPts val="6600"/>
              <a:buNone/>
              <a:defRPr sz="6600"/>
            </a:lvl3pPr>
            <a:lvl4pPr lvl="3">
              <a:spcBef>
                <a:spcPts val="0"/>
              </a:spcBef>
              <a:spcAft>
                <a:spcPts val="0"/>
              </a:spcAft>
              <a:buSzPts val="6600"/>
              <a:buNone/>
              <a:defRPr sz="6600"/>
            </a:lvl4pPr>
            <a:lvl5pPr lvl="4">
              <a:spcBef>
                <a:spcPts val="0"/>
              </a:spcBef>
              <a:spcAft>
                <a:spcPts val="0"/>
              </a:spcAft>
              <a:buSzPts val="6600"/>
              <a:buNone/>
              <a:defRPr sz="6600"/>
            </a:lvl5pPr>
            <a:lvl6pPr lvl="5">
              <a:spcBef>
                <a:spcPts val="0"/>
              </a:spcBef>
              <a:spcAft>
                <a:spcPts val="0"/>
              </a:spcAft>
              <a:buSzPts val="6600"/>
              <a:buNone/>
              <a:defRPr sz="6600"/>
            </a:lvl6pPr>
            <a:lvl7pPr lvl="6">
              <a:spcBef>
                <a:spcPts val="0"/>
              </a:spcBef>
              <a:spcAft>
                <a:spcPts val="0"/>
              </a:spcAft>
              <a:buSzPts val="6600"/>
              <a:buNone/>
              <a:defRPr sz="6600"/>
            </a:lvl7pPr>
            <a:lvl8pPr lvl="7">
              <a:spcBef>
                <a:spcPts val="0"/>
              </a:spcBef>
              <a:spcAft>
                <a:spcPts val="0"/>
              </a:spcAft>
              <a:buSzPts val="6600"/>
              <a:buNone/>
              <a:defRPr sz="6600"/>
            </a:lvl8pPr>
            <a:lvl9pPr lvl="8">
              <a:spcBef>
                <a:spcPts val="0"/>
              </a:spcBef>
              <a:spcAft>
                <a:spcPts val="0"/>
              </a:spcAft>
              <a:buSzPts val="6600"/>
              <a:buNone/>
              <a:defRPr sz="6600"/>
            </a:lvl9pPr>
          </a:lstStyle>
          <a:p/>
        </p:txBody>
      </p:sp>
      <p:sp>
        <p:nvSpPr>
          <p:cNvPr id="34" name="Google Shape;34;p8"/>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780000" y="-260"/>
            <a:ext cx="3780000" cy="10692000"/>
          </a:xfrm>
          <a:prstGeom prst="rect">
            <a:avLst/>
          </a:prstGeom>
          <a:solidFill>
            <a:schemeClr val="lt2"/>
          </a:solidFill>
          <a:ln>
            <a:noFill/>
          </a:ln>
        </p:spPr>
        <p:txBody>
          <a:bodyPr anchorCtr="0" anchor="ctr" bIns="125200" lIns="125200" spcFirstLastPara="1" rIns="125200" wrap="square" tIns="1252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9508" y="2563450"/>
            <a:ext cx="3344400" cy="3081300"/>
          </a:xfrm>
          <a:prstGeom prst="rect">
            <a:avLst/>
          </a:prstGeom>
        </p:spPr>
        <p:txBody>
          <a:bodyPr anchorCtr="0" anchor="b" bIns="125200" lIns="125200" spcFirstLastPara="1" rIns="125200" wrap="square" tIns="125200">
            <a:normAutofit/>
          </a:bodyPr>
          <a:lstStyle>
            <a:lvl1pPr lvl="0" algn="ctr">
              <a:spcBef>
                <a:spcPts val="0"/>
              </a:spcBef>
              <a:spcAft>
                <a:spcPts val="0"/>
              </a:spcAft>
              <a:buSzPts val="5800"/>
              <a:buNone/>
              <a:defRPr sz="5800"/>
            </a:lvl1pPr>
            <a:lvl2pPr lvl="1" algn="ctr">
              <a:spcBef>
                <a:spcPts val="0"/>
              </a:spcBef>
              <a:spcAft>
                <a:spcPts val="0"/>
              </a:spcAft>
              <a:buSzPts val="5800"/>
              <a:buNone/>
              <a:defRPr sz="5800"/>
            </a:lvl2pPr>
            <a:lvl3pPr lvl="2" algn="ctr">
              <a:spcBef>
                <a:spcPts val="0"/>
              </a:spcBef>
              <a:spcAft>
                <a:spcPts val="0"/>
              </a:spcAft>
              <a:buSzPts val="5800"/>
              <a:buNone/>
              <a:defRPr sz="5800"/>
            </a:lvl3pPr>
            <a:lvl4pPr lvl="3" algn="ctr">
              <a:spcBef>
                <a:spcPts val="0"/>
              </a:spcBef>
              <a:spcAft>
                <a:spcPts val="0"/>
              </a:spcAft>
              <a:buSzPts val="5800"/>
              <a:buNone/>
              <a:defRPr sz="5800"/>
            </a:lvl4pPr>
            <a:lvl5pPr lvl="4" algn="ctr">
              <a:spcBef>
                <a:spcPts val="0"/>
              </a:spcBef>
              <a:spcAft>
                <a:spcPts val="0"/>
              </a:spcAft>
              <a:buSzPts val="5800"/>
              <a:buNone/>
              <a:defRPr sz="5800"/>
            </a:lvl5pPr>
            <a:lvl6pPr lvl="5" algn="ctr">
              <a:spcBef>
                <a:spcPts val="0"/>
              </a:spcBef>
              <a:spcAft>
                <a:spcPts val="0"/>
              </a:spcAft>
              <a:buSzPts val="5800"/>
              <a:buNone/>
              <a:defRPr sz="5800"/>
            </a:lvl6pPr>
            <a:lvl7pPr lvl="6" algn="ctr">
              <a:spcBef>
                <a:spcPts val="0"/>
              </a:spcBef>
              <a:spcAft>
                <a:spcPts val="0"/>
              </a:spcAft>
              <a:buSzPts val="5800"/>
              <a:buNone/>
              <a:defRPr sz="5800"/>
            </a:lvl7pPr>
            <a:lvl8pPr lvl="7" algn="ctr">
              <a:spcBef>
                <a:spcPts val="0"/>
              </a:spcBef>
              <a:spcAft>
                <a:spcPts val="0"/>
              </a:spcAft>
              <a:buSzPts val="5800"/>
              <a:buNone/>
              <a:defRPr sz="5800"/>
            </a:lvl8pPr>
            <a:lvl9pPr lvl="8" algn="ctr">
              <a:spcBef>
                <a:spcPts val="0"/>
              </a:spcBef>
              <a:spcAft>
                <a:spcPts val="0"/>
              </a:spcAft>
              <a:buSzPts val="5800"/>
              <a:buNone/>
              <a:defRPr sz="5800"/>
            </a:lvl9pPr>
          </a:lstStyle>
          <a:p/>
        </p:txBody>
      </p:sp>
      <p:sp>
        <p:nvSpPr>
          <p:cNvPr id="38" name="Google Shape;38;p9"/>
          <p:cNvSpPr txBox="1"/>
          <p:nvPr>
            <p:ph idx="1" type="subTitle"/>
          </p:nvPr>
        </p:nvSpPr>
        <p:spPr>
          <a:xfrm>
            <a:off x="219508" y="5826865"/>
            <a:ext cx="3344400" cy="2567400"/>
          </a:xfrm>
          <a:prstGeom prst="rect">
            <a:avLst/>
          </a:prstGeom>
        </p:spPr>
        <p:txBody>
          <a:bodyPr anchorCtr="0" anchor="t" bIns="125200" lIns="125200" spcFirstLastPara="1" rIns="125200" wrap="square" tIns="125200">
            <a:normAutofit/>
          </a:bodyPr>
          <a:lstStyle>
            <a:lvl1pPr lvl="0" algn="ctr">
              <a:lnSpc>
                <a:spcPct val="100000"/>
              </a:lnSpc>
              <a:spcBef>
                <a:spcPts val="0"/>
              </a:spcBef>
              <a:spcAft>
                <a:spcPts val="0"/>
              </a:spcAft>
              <a:buSzPts val="2900"/>
              <a:buNone/>
              <a:defRPr sz="29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
        <p:nvSpPr>
          <p:cNvPr id="39" name="Google Shape;39;p9"/>
          <p:cNvSpPr txBox="1"/>
          <p:nvPr>
            <p:ph idx="2" type="body"/>
          </p:nvPr>
        </p:nvSpPr>
        <p:spPr>
          <a:xfrm>
            <a:off x="4083839" y="1505164"/>
            <a:ext cx="3172500" cy="7681200"/>
          </a:xfrm>
          <a:prstGeom prst="rect">
            <a:avLst/>
          </a:prstGeom>
        </p:spPr>
        <p:txBody>
          <a:bodyPr anchorCtr="0" anchor="ctr" bIns="125200" lIns="125200" spcFirstLastPara="1" rIns="125200" wrap="square" tIns="125200">
            <a:normAutofit/>
          </a:bodyPr>
          <a:lstStyle>
            <a:lvl1pPr indent="-387350" lvl="0" marL="457200">
              <a:spcBef>
                <a:spcPts val="0"/>
              </a:spcBef>
              <a:spcAft>
                <a:spcPts val="0"/>
              </a:spcAft>
              <a:buSzPts val="25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7705" y="8794266"/>
            <a:ext cx="4959900" cy="1257900"/>
          </a:xfrm>
          <a:prstGeom prst="rect">
            <a:avLst/>
          </a:prstGeom>
        </p:spPr>
        <p:txBody>
          <a:bodyPr anchorCtr="0" anchor="ctr" bIns="125200" lIns="125200" spcFirstLastPara="1" rIns="125200" wrap="square" tIns="125200">
            <a:normAutofit/>
          </a:bodyPr>
          <a:lstStyle>
            <a:lvl1pPr indent="-228600" lvl="0" marL="457200">
              <a:lnSpc>
                <a:spcPct val="100000"/>
              </a:lnSpc>
              <a:spcBef>
                <a:spcPts val="0"/>
              </a:spcBef>
              <a:spcAft>
                <a:spcPts val="0"/>
              </a:spcAft>
              <a:buSzPts val="2500"/>
              <a:buNone/>
              <a:defRPr/>
            </a:lvl1pPr>
          </a:lstStyle>
          <a:p/>
        </p:txBody>
      </p:sp>
      <p:sp>
        <p:nvSpPr>
          <p:cNvPr id="43" name="Google Shape;43;p10"/>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7705" y="2299346"/>
            <a:ext cx="7044600" cy="4081800"/>
          </a:xfrm>
          <a:prstGeom prst="rect">
            <a:avLst/>
          </a:prstGeom>
        </p:spPr>
        <p:txBody>
          <a:bodyPr anchorCtr="0" anchor="b" bIns="125200" lIns="125200" spcFirstLastPara="1" rIns="125200" wrap="square" tIns="125200">
            <a:normAutofit/>
          </a:bodyPr>
          <a:lstStyle>
            <a:lvl1pPr lvl="0" algn="ctr">
              <a:spcBef>
                <a:spcPts val="0"/>
              </a:spcBef>
              <a:spcAft>
                <a:spcPts val="0"/>
              </a:spcAft>
              <a:buSzPts val="16400"/>
              <a:buNone/>
              <a:defRPr sz="16400"/>
            </a:lvl1pPr>
            <a:lvl2pPr lvl="1" algn="ctr">
              <a:spcBef>
                <a:spcPts val="0"/>
              </a:spcBef>
              <a:spcAft>
                <a:spcPts val="0"/>
              </a:spcAft>
              <a:buSzPts val="16400"/>
              <a:buNone/>
              <a:defRPr sz="16400"/>
            </a:lvl2pPr>
            <a:lvl3pPr lvl="2" algn="ctr">
              <a:spcBef>
                <a:spcPts val="0"/>
              </a:spcBef>
              <a:spcAft>
                <a:spcPts val="0"/>
              </a:spcAft>
              <a:buSzPts val="16400"/>
              <a:buNone/>
              <a:defRPr sz="16400"/>
            </a:lvl3pPr>
            <a:lvl4pPr lvl="3" algn="ctr">
              <a:spcBef>
                <a:spcPts val="0"/>
              </a:spcBef>
              <a:spcAft>
                <a:spcPts val="0"/>
              </a:spcAft>
              <a:buSzPts val="16400"/>
              <a:buNone/>
              <a:defRPr sz="16400"/>
            </a:lvl4pPr>
            <a:lvl5pPr lvl="4" algn="ctr">
              <a:spcBef>
                <a:spcPts val="0"/>
              </a:spcBef>
              <a:spcAft>
                <a:spcPts val="0"/>
              </a:spcAft>
              <a:buSzPts val="16400"/>
              <a:buNone/>
              <a:defRPr sz="16400"/>
            </a:lvl5pPr>
            <a:lvl6pPr lvl="5" algn="ctr">
              <a:spcBef>
                <a:spcPts val="0"/>
              </a:spcBef>
              <a:spcAft>
                <a:spcPts val="0"/>
              </a:spcAft>
              <a:buSzPts val="16400"/>
              <a:buNone/>
              <a:defRPr sz="16400"/>
            </a:lvl6pPr>
            <a:lvl7pPr lvl="6" algn="ctr">
              <a:spcBef>
                <a:spcPts val="0"/>
              </a:spcBef>
              <a:spcAft>
                <a:spcPts val="0"/>
              </a:spcAft>
              <a:buSzPts val="16400"/>
              <a:buNone/>
              <a:defRPr sz="16400"/>
            </a:lvl7pPr>
            <a:lvl8pPr lvl="7" algn="ctr">
              <a:spcBef>
                <a:spcPts val="0"/>
              </a:spcBef>
              <a:spcAft>
                <a:spcPts val="0"/>
              </a:spcAft>
              <a:buSzPts val="16400"/>
              <a:buNone/>
              <a:defRPr sz="16400"/>
            </a:lvl8pPr>
            <a:lvl9pPr lvl="8" algn="ctr">
              <a:spcBef>
                <a:spcPts val="0"/>
              </a:spcBef>
              <a:spcAft>
                <a:spcPts val="0"/>
              </a:spcAft>
              <a:buSzPts val="16400"/>
              <a:buNone/>
              <a:defRPr sz="16400"/>
            </a:lvl9pPr>
          </a:lstStyle>
          <a:p>
            <a:r>
              <a:t>xx%</a:t>
            </a:r>
          </a:p>
        </p:txBody>
      </p:sp>
      <p:sp>
        <p:nvSpPr>
          <p:cNvPr id="46" name="Google Shape;46;p11"/>
          <p:cNvSpPr txBox="1"/>
          <p:nvPr>
            <p:ph idx="1" type="body"/>
          </p:nvPr>
        </p:nvSpPr>
        <p:spPr>
          <a:xfrm>
            <a:off x="257705" y="6552657"/>
            <a:ext cx="7044600" cy="2703900"/>
          </a:xfrm>
          <a:prstGeom prst="rect">
            <a:avLst/>
          </a:prstGeom>
        </p:spPr>
        <p:txBody>
          <a:bodyPr anchorCtr="0" anchor="t" bIns="125200" lIns="125200" spcFirstLastPara="1" rIns="125200" wrap="square" tIns="125200">
            <a:normAutofit/>
          </a:bodyPr>
          <a:lstStyle>
            <a:lvl1pPr indent="-387350" lvl="0" marL="457200" algn="ctr">
              <a:spcBef>
                <a:spcPts val="0"/>
              </a:spcBef>
              <a:spcAft>
                <a:spcPts val="0"/>
              </a:spcAft>
              <a:buSzPts val="25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04788" y="9693616"/>
            <a:ext cx="453600" cy="818100"/>
          </a:xfrm>
          <a:prstGeom prst="rect">
            <a:avLst/>
          </a:prstGeom>
        </p:spPr>
        <p:txBody>
          <a:bodyPr anchorCtr="0" anchor="ctr" bIns="125200" lIns="125200" spcFirstLastPara="1" rIns="125200" wrap="square" tIns="1252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700"/>
          </a:xfrm>
          <a:prstGeom prst="rect">
            <a:avLst/>
          </a:prstGeom>
          <a:noFill/>
          <a:ln>
            <a:noFill/>
          </a:ln>
        </p:spPr>
        <p:txBody>
          <a:bodyPr anchorCtr="0" anchor="t" bIns="125200" lIns="125200" spcFirstLastPara="1" rIns="125200" wrap="square" tIns="125200">
            <a:normAutofit/>
          </a:bodyPr>
          <a:lstStyle>
            <a:lvl1pPr lvl="0">
              <a:spcBef>
                <a:spcPts val="0"/>
              </a:spcBef>
              <a:spcAft>
                <a:spcPts val="0"/>
              </a:spcAft>
              <a:buClr>
                <a:schemeClr val="dk1"/>
              </a:buClr>
              <a:buSzPts val="3800"/>
              <a:buNone/>
              <a:defRPr sz="3800">
                <a:solidFill>
                  <a:schemeClr val="dk1"/>
                </a:solidFill>
              </a:defRPr>
            </a:lvl1pPr>
            <a:lvl2pPr lvl="1">
              <a:spcBef>
                <a:spcPts val="0"/>
              </a:spcBef>
              <a:spcAft>
                <a:spcPts val="0"/>
              </a:spcAft>
              <a:buClr>
                <a:schemeClr val="dk1"/>
              </a:buClr>
              <a:buSzPts val="3800"/>
              <a:buNone/>
              <a:defRPr sz="3800">
                <a:solidFill>
                  <a:schemeClr val="dk1"/>
                </a:solidFill>
              </a:defRPr>
            </a:lvl2pPr>
            <a:lvl3pPr lvl="2">
              <a:spcBef>
                <a:spcPts val="0"/>
              </a:spcBef>
              <a:spcAft>
                <a:spcPts val="0"/>
              </a:spcAft>
              <a:buClr>
                <a:schemeClr val="dk1"/>
              </a:buClr>
              <a:buSzPts val="3800"/>
              <a:buNone/>
              <a:defRPr sz="3800">
                <a:solidFill>
                  <a:schemeClr val="dk1"/>
                </a:solidFill>
              </a:defRPr>
            </a:lvl3pPr>
            <a:lvl4pPr lvl="3">
              <a:spcBef>
                <a:spcPts val="0"/>
              </a:spcBef>
              <a:spcAft>
                <a:spcPts val="0"/>
              </a:spcAft>
              <a:buClr>
                <a:schemeClr val="dk1"/>
              </a:buClr>
              <a:buSzPts val="3800"/>
              <a:buNone/>
              <a:defRPr sz="3800">
                <a:solidFill>
                  <a:schemeClr val="dk1"/>
                </a:solidFill>
              </a:defRPr>
            </a:lvl4pPr>
            <a:lvl5pPr lvl="4">
              <a:spcBef>
                <a:spcPts val="0"/>
              </a:spcBef>
              <a:spcAft>
                <a:spcPts val="0"/>
              </a:spcAft>
              <a:buClr>
                <a:schemeClr val="dk1"/>
              </a:buClr>
              <a:buSzPts val="3800"/>
              <a:buNone/>
              <a:defRPr sz="3800">
                <a:solidFill>
                  <a:schemeClr val="dk1"/>
                </a:solidFill>
              </a:defRPr>
            </a:lvl5pPr>
            <a:lvl6pPr lvl="5">
              <a:spcBef>
                <a:spcPts val="0"/>
              </a:spcBef>
              <a:spcAft>
                <a:spcPts val="0"/>
              </a:spcAft>
              <a:buClr>
                <a:schemeClr val="dk1"/>
              </a:buClr>
              <a:buSzPts val="3800"/>
              <a:buNone/>
              <a:defRPr sz="3800">
                <a:solidFill>
                  <a:schemeClr val="dk1"/>
                </a:solidFill>
              </a:defRPr>
            </a:lvl6pPr>
            <a:lvl7pPr lvl="6">
              <a:spcBef>
                <a:spcPts val="0"/>
              </a:spcBef>
              <a:spcAft>
                <a:spcPts val="0"/>
              </a:spcAft>
              <a:buClr>
                <a:schemeClr val="dk1"/>
              </a:buClr>
              <a:buSzPts val="3800"/>
              <a:buNone/>
              <a:defRPr sz="3800">
                <a:solidFill>
                  <a:schemeClr val="dk1"/>
                </a:solidFill>
              </a:defRPr>
            </a:lvl7pPr>
            <a:lvl8pPr lvl="7">
              <a:spcBef>
                <a:spcPts val="0"/>
              </a:spcBef>
              <a:spcAft>
                <a:spcPts val="0"/>
              </a:spcAft>
              <a:buClr>
                <a:schemeClr val="dk1"/>
              </a:buClr>
              <a:buSzPts val="3800"/>
              <a:buNone/>
              <a:defRPr sz="3800">
                <a:solidFill>
                  <a:schemeClr val="dk1"/>
                </a:solidFill>
              </a:defRPr>
            </a:lvl8pPr>
            <a:lvl9pPr lvl="8">
              <a:spcBef>
                <a:spcPts val="0"/>
              </a:spcBef>
              <a:spcAft>
                <a:spcPts val="0"/>
              </a:spcAft>
              <a:buClr>
                <a:schemeClr val="dk1"/>
              </a:buClr>
              <a:buSzPts val="3800"/>
              <a:buNone/>
              <a:defRPr sz="3800">
                <a:solidFill>
                  <a:schemeClr val="dk1"/>
                </a:solidFill>
              </a:defRPr>
            </a:lvl9pPr>
          </a:lstStyle>
          <a:p/>
        </p:txBody>
      </p:sp>
      <p:sp>
        <p:nvSpPr>
          <p:cNvPr id="7" name="Google Shape;7;p1"/>
          <p:cNvSpPr txBox="1"/>
          <p:nvPr>
            <p:ph idx="1" type="body"/>
          </p:nvPr>
        </p:nvSpPr>
        <p:spPr>
          <a:xfrm>
            <a:off x="257705" y="2395696"/>
            <a:ext cx="7044600" cy="7101600"/>
          </a:xfrm>
          <a:prstGeom prst="rect">
            <a:avLst/>
          </a:prstGeom>
          <a:noFill/>
          <a:ln>
            <a:noFill/>
          </a:ln>
        </p:spPr>
        <p:txBody>
          <a:bodyPr anchorCtr="0" anchor="t" bIns="125200" lIns="125200" spcFirstLastPara="1" rIns="125200" wrap="square" tIns="125200">
            <a:normAutofit/>
          </a:bodyPr>
          <a:lstStyle>
            <a:lvl1pPr indent="-387350" lvl="0" marL="457200">
              <a:lnSpc>
                <a:spcPct val="115000"/>
              </a:lnSpc>
              <a:spcBef>
                <a:spcPts val="0"/>
              </a:spcBef>
              <a:spcAft>
                <a:spcPts val="0"/>
              </a:spcAft>
              <a:buClr>
                <a:schemeClr val="dk2"/>
              </a:buClr>
              <a:buSzPts val="2500"/>
              <a:buChar char="●"/>
              <a:defRPr sz="25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125200" lIns="125200" spcFirstLastPara="1" rIns="125200" wrap="square" tIns="125200">
            <a:normAutofit/>
          </a:bodyPr>
          <a:lstStyle>
            <a:lvl1pPr lvl="0" algn="r">
              <a:buNone/>
              <a:defRPr sz="1400">
                <a:solidFill>
                  <a:schemeClr val="dk2"/>
                </a:solidFill>
              </a:defRPr>
            </a:lvl1pPr>
            <a:lvl2pPr lvl="1" algn="r">
              <a:buNone/>
              <a:defRPr sz="1400">
                <a:solidFill>
                  <a:schemeClr val="dk2"/>
                </a:solidFill>
              </a:defRPr>
            </a:lvl2pPr>
            <a:lvl3pPr lvl="2" algn="r">
              <a:buNone/>
              <a:defRPr sz="1400">
                <a:solidFill>
                  <a:schemeClr val="dk2"/>
                </a:solidFill>
              </a:defRPr>
            </a:lvl3pPr>
            <a:lvl4pPr lvl="3" algn="r">
              <a:buNone/>
              <a:defRPr sz="1400">
                <a:solidFill>
                  <a:schemeClr val="dk2"/>
                </a:solidFill>
              </a:defRPr>
            </a:lvl4pPr>
            <a:lvl5pPr lvl="4" algn="r">
              <a:buNone/>
              <a:defRPr sz="1400">
                <a:solidFill>
                  <a:schemeClr val="dk2"/>
                </a:solidFill>
              </a:defRPr>
            </a:lvl5pPr>
            <a:lvl6pPr lvl="5" algn="r">
              <a:buNone/>
              <a:defRPr sz="1400">
                <a:solidFill>
                  <a:schemeClr val="dk2"/>
                </a:solidFill>
              </a:defRPr>
            </a:lvl6pPr>
            <a:lvl7pPr lvl="6" algn="r">
              <a:buNone/>
              <a:defRPr sz="1400">
                <a:solidFill>
                  <a:schemeClr val="dk2"/>
                </a:solidFill>
              </a:defRPr>
            </a:lvl7pPr>
            <a:lvl8pPr lvl="7" algn="r">
              <a:buNone/>
              <a:defRPr sz="1400">
                <a:solidFill>
                  <a:schemeClr val="dk2"/>
                </a:solidFill>
              </a:defRPr>
            </a:lvl8pPr>
            <a:lvl9pPr lvl="8" algn="r">
              <a:buNone/>
              <a:defRPr sz="14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4611237" y="-79974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590299" y="626550"/>
            <a:ext cx="44544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F8485E"/>
                </a:solidFill>
                <a:latin typeface="Montserrat"/>
                <a:ea typeface="Montserrat"/>
                <a:cs typeface="Montserrat"/>
                <a:sym typeface="Montserrat"/>
              </a:rPr>
              <a:t>Senior developer Full Stack Java/Angular</a:t>
            </a:r>
            <a:endParaRPr b="1" sz="1600">
              <a:solidFill>
                <a:srgbClr val="F8485E"/>
              </a:solidFill>
              <a:latin typeface="Montserrat"/>
              <a:ea typeface="Montserrat"/>
              <a:cs typeface="Montserrat"/>
              <a:sym typeface="Montserrat"/>
            </a:endParaRPr>
          </a:p>
          <a:p>
            <a:pPr indent="0" lvl="0" marL="0" rtl="0" algn="l">
              <a:spcBef>
                <a:spcPts val="0"/>
              </a:spcBef>
              <a:spcAft>
                <a:spcPts val="0"/>
              </a:spcAft>
              <a:buNone/>
            </a:pPr>
            <a:r>
              <a:rPr b="1" lang="en-GB">
                <a:solidFill>
                  <a:srgbClr val="F8485E"/>
                </a:solidFill>
                <a:latin typeface="Montserrat"/>
                <a:ea typeface="Montserrat"/>
                <a:cs typeface="Montserrat"/>
                <a:sym typeface="Montserrat"/>
              </a:rPr>
              <a:t>4 years of experience</a:t>
            </a:r>
            <a:endParaRPr b="1">
              <a:solidFill>
                <a:srgbClr val="F8485E"/>
              </a:solidFill>
              <a:latin typeface="Montserrat"/>
              <a:ea typeface="Montserrat"/>
              <a:cs typeface="Montserrat"/>
              <a:sym typeface="Montserrat"/>
            </a:endParaRPr>
          </a:p>
          <a:p>
            <a:pPr indent="0" lvl="0" marL="0" rtl="0" algn="l">
              <a:spcBef>
                <a:spcPts val="0"/>
              </a:spcBef>
              <a:spcAft>
                <a:spcPts val="0"/>
              </a:spcAft>
              <a:buNone/>
            </a:pPr>
            <a:r>
              <a:t/>
            </a:r>
            <a:endParaRPr b="1">
              <a:solidFill>
                <a:srgbClr val="F8485E"/>
              </a:solidFill>
              <a:latin typeface="Montserrat"/>
              <a:ea typeface="Montserrat"/>
              <a:cs typeface="Montserrat"/>
              <a:sym typeface="Montserrat"/>
            </a:endParaRPr>
          </a:p>
          <a:p>
            <a:pPr indent="0" lvl="0" marL="0" rtl="0" algn="l">
              <a:spcBef>
                <a:spcPts val="0"/>
              </a:spcBef>
              <a:spcAft>
                <a:spcPts val="0"/>
              </a:spcAft>
              <a:buNone/>
            </a:pPr>
            <a:r>
              <a:t/>
            </a:r>
            <a:endParaRPr b="1">
              <a:solidFill>
                <a:srgbClr val="F8485E"/>
              </a:solidFill>
              <a:latin typeface="Montserrat"/>
              <a:ea typeface="Montserrat"/>
              <a:cs typeface="Montserrat"/>
              <a:sym typeface="Montserrat"/>
            </a:endParaRPr>
          </a:p>
          <a:p>
            <a:pPr indent="0" lvl="0" marL="0" rtl="0" algn="l">
              <a:spcBef>
                <a:spcPts val="0"/>
              </a:spcBef>
              <a:spcAft>
                <a:spcPts val="0"/>
              </a:spcAft>
              <a:buNone/>
            </a:pPr>
            <a:r>
              <a:rPr b="1" lang="en-GB">
                <a:solidFill>
                  <a:srgbClr val="3C3C3A"/>
                </a:solidFill>
                <a:latin typeface="Montserrat"/>
                <a:ea typeface="Montserrat"/>
                <a:cs typeface="Montserrat"/>
                <a:sym typeface="Montserrat"/>
              </a:rPr>
              <a:t>Z.A.O</a:t>
            </a:r>
            <a:endParaRPr b="1">
              <a:solidFill>
                <a:srgbClr val="3C3C3A"/>
              </a:solidFill>
              <a:latin typeface="Montserrat"/>
              <a:ea typeface="Montserrat"/>
              <a:cs typeface="Montserrat"/>
              <a:sym typeface="Montserrat"/>
            </a:endParaRPr>
          </a:p>
        </p:txBody>
      </p:sp>
      <p:sp>
        <p:nvSpPr>
          <p:cNvPr id="56" name="Google Shape;56;p13"/>
          <p:cNvSpPr txBox="1"/>
          <p:nvPr/>
        </p:nvSpPr>
        <p:spPr>
          <a:xfrm>
            <a:off x="2869338" y="2347750"/>
            <a:ext cx="4443900" cy="2229300"/>
          </a:xfrm>
          <a:prstGeom prst="rect">
            <a:avLst/>
          </a:prstGeom>
          <a:noFill/>
          <a:ln>
            <a:noFill/>
          </a:ln>
        </p:spPr>
        <p:txBody>
          <a:bodyPr anchorCtr="0" anchor="t" bIns="91425" lIns="91425" spcFirstLastPara="1" rIns="91425" wrap="square" tIns="91425">
            <a:noAutofit/>
          </a:bodyPr>
          <a:lstStyle/>
          <a:p>
            <a:pPr indent="0" lvl="0" marL="0" rtl="0" algn="just">
              <a:lnSpc>
                <a:spcPct val="110000"/>
              </a:lnSpc>
              <a:spcBef>
                <a:spcPts val="600"/>
              </a:spcBef>
              <a:spcAft>
                <a:spcPts val="0"/>
              </a:spcAft>
              <a:buClr>
                <a:srgbClr val="000000"/>
              </a:buClr>
              <a:buSzPts val="1000"/>
              <a:buFont typeface="Arial"/>
              <a:buNone/>
            </a:pPr>
            <a:r>
              <a:rPr lang="en-GB" sz="1000">
                <a:solidFill>
                  <a:srgbClr val="3C3C3A"/>
                </a:solidFill>
                <a:latin typeface="Montserrat Light"/>
                <a:ea typeface="Montserrat Light"/>
                <a:cs typeface="Montserrat Light"/>
                <a:sym typeface="Montserrat Light"/>
              </a:rPr>
              <a:t>A versatile developer with extensive experience designing and developing innovative solutions for startups and established companies. Expertise in </a:t>
            </a:r>
            <a:r>
              <a:rPr b="1" lang="en-GB" sz="1000">
                <a:solidFill>
                  <a:srgbClr val="3C3C3A"/>
                </a:solidFill>
                <a:latin typeface="Montserrat"/>
                <a:ea typeface="Montserrat"/>
                <a:cs typeface="Montserrat"/>
                <a:sym typeface="Montserrat"/>
              </a:rPr>
              <a:t>Angular </a:t>
            </a:r>
            <a:r>
              <a:rPr lang="en-GB" sz="1000">
                <a:solidFill>
                  <a:srgbClr val="3C3C3A"/>
                </a:solidFill>
                <a:latin typeface="Montserrat Light"/>
                <a:ea typeface="Montserrat Light"/>
                <a:cs typeface="Montserrat Light"/>
                <a:sym typeface="Montserrat Light"/>
              </a:rPr>
              <a:t>and </a:t>
            </a:r>
            <a:r>
              <a:rPr b="1" lang="en-GB" sz="1000">
                <a:solidFill>
                  <a:srgbClr val="3C3C3A"/>
                </a:solidFill>
                <a:latin typeface="Montserrat"/>
                <a:ea typeface="Montserrat"/>
                <a:cs typeface="Montserrat"/>
                <a:sym typeface="Montserrat"/>
              </a:rPr>
              <a:t>Java</a:t>
            </a:r>
            <a:r>
              <a:rPr lang="en-GB" sz="1000">
                <a:solidFill>
                  <a:srgbClr val="3C3C3A"/>
                </a:solidFill>
                <a:latin typeface="Montserrat Light"/>
                <a:ea typeface="Montserrat Light"/>
                <a:cs typeface="Montserrat Light"/>
                <a:sym typeface="Montserrat Light"/>
              </a:rPr>
              <a:t>, focusing on building robust and scalable web and mobile applications. Passionate about digital transformation, I combine technical skills and a collaborative approach to deliver solutions that meet the strategic objectives of projects.</a:t>
            </a:r>
            <a:endParaRPr sz="1000" u="none" cap="none" strike="noStrike">
              <a:solidFill>
                <a:srgbClr val="3C3C3A"/>
              </a:solidFill>
              <a:latin typeface="Montserrat Light"/>
              <a:ea typeface="Montserrat Light"/>
              <a:cs typeface="Montserrat Light"/>
              <a:sym typeface="Montserrat Light"/>
            </a:endParaRPr>
          </a:p>
        </p:txBody>
      </p:sp>
      <p:grpSp>
        <p:nvGrpSpPr>
          <p:cNvPr id="57" name="Google Shape;57;p13"/>
          <p:cNvGrpSpPr/>
          <p:nvPr/>
        </p:nvGrpSpPr>
        <p:grpSpPr>
          <a:xfrm>
            <a:off x="2857900" y="4447652"/>
            <a:ext cx="4466782" cy="5935148"/>
            <a:chOff x="3151308" y="1068566"/>
            <a:chExt cx="4132083" cy="6478005"/>
          </a:xfrm>
        </p:grpSpPr>
        <p:sp>
          <p:nvSpPr>
            <p:cNvPr id="58" name="Google Shape;58;p13"/>
            <p:cNvSpPr txBox="1"/>
            <p:nvPr/>
          </p:nvSpPr>
          <p:spPr>
            <a:xfrm>
              <a:off x="3172192" y="1068566"/>
              <a:ext cx="4111200" cy="76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RECENT KEY EXPERIENCES</a:t>
              </a:r>
              <a:endParaRPr b="1" i="0" sz="1200" u="none" cap="none" strike="noStrike">
                <a:solidFill>
                  <a:srgbClr val="F8485E"/>
                </a:solidFill>
                <a:latin typeface="Montserrat"/>
                <a:ea typeface="Montserrat"/>
                <a:cs typeface="Montserrat"/>
                <a:sym typeface="Montserrat"/>
              </a:endParaRPr>
            </a:p>
          </p:txBody>
        </p:sp>
        <p:sp>
          <p:nvSpPr>
            <p:cNvPr id="59" name="Google Shape;59;p13"/>
            <p:cNvSpPr txBox="1"/>
            <p:nvPr/>
          </p:nvSpPr>
          <p:spPr>
            <a:xfrm>
              <a:off x="3151308" y="1598771"/>
              <a:ext cx="4111200" cy="59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900">
                  <a:solidFill>
                    <a:srgbClr val="3C3C3A"/>
                  </a:solidFill>
                  <a:latin typeface="Montserrat"/>
                  <a:ea typeface="Montserrat"/>
                  <a:cs typeface="Montserrat"/>
                  <a:sym typeface="Montserrat"/>
                </a:rPr>
                <a:t>EZ-Pass - ClickBus Tunisie</a:t>
              </a:r>
              <a:endParaRPr b="1" sz="900">
                <a:solidFill>
                  <a:srgbClr val="3C3C3A"/>
                </a:solidFill>
                <a:latin typeface="Montserrat"/>
                <a:ea typeface="Montserrat"/>
                <a:cs typeface="Montserrat"/>
                <a:sym typeface="Montserrat"/>
              </a:endParaRPr>
            </a:p>
            <a:p>
              <a:pPr indent="0" lvl="0" marL="0" rtl="0" algn="l">
                <a:spcBef>
                  <a:spcPts val="0"/>
                </a:spcBef>
                <a:spcAft>
                  <a:spcPts val="0"/>
                </a:spcAft>
                <a:buNone/>
              </a:pPr>
              <a:r>
                <a:rPr lang="en-GB" sz="900">
                  <a:solidFill>
                    <a:srgbClr val="3C3C3A"/>
                  </a:solidFill>
                  <a:latin typeface="Montserrat"/>
                  <a:ea typeface="Montserrat"/>
                  <a:cs typeface="Montserrat"/>
                  <a:sym typeface="Montserrat"/>
                </a:rPr>
                <a:t>Co-founder - CTO / Angular - Java - Ionic - Android native - RDB</a:t>
              </a:r>
              <a:endParaRPr sz="900">
                <a:solidFill>
                  <a:srgbClr val="3C3C3A"/>
                </a:solidFill>
                <a:latin typeface="Montserrat"/>
                <a:ea typeface="Montserrat"/>
                <a:cs typeface="Montserrat"/>
                <a:sym typeface="Montserrat"/>
              </a:endParaRPr>
            </a:p>
            <a:p>
              <a:pPr indent="0" lvl="0" marL="0" rtl="0" algn="l">
                <a:spcBef>
                  <a:spcPts val="0"/>
                </a:spcBef>
                <a:spcAft>
                  <a:spcPts val="0"/>
                </a:spcAft>
                <a:buNone/>
              </a:pPr>
              <a:r>
                <a:rPr lang="en-GB" sz="900">
                  <a:solidFill>
                    <a:srgbClr val="3C3C3A"/>
                  </a:solidFill>
                  <a:latin typeface="Montserrat"/>
                  <a:ea typeface="Montserrat"/>
                  <a:cs typeface="Montserrat"/>
                  <a:sym typeface="Montserrat"/>
                </a:rPr>
                <a:t>3 years- </a:t>
              </a:r>
              <a:r>
                <a:rPr lang="en-GB" sz="700">
                  <a:solidFill>
                    <a:srgbClr val="3C3C3A"/>
                  </a:solidFill>
                  <a:latin typeface="Montserrat"/>
                  <a:ea typeface="Montserrat"/>
                  <a:cs typeface="Montserrat"/>
                  <a:sym typeface="Montserrat"/>
                </a:rPr>
                <a:t>Team of 3 developers</a:t>
              </a:r>
              <a:endParaRPr sz="900">
                <a:solidFill>
                  <a:srgbClr val="3C3C3A"/>
                </a:solidFill>
                <a:latin typeface="Montserrat"/>
                <a:ea typeface="Montserrat"/>
                <a:cs typeface="Montserrat"/>
                <a:sym typeface="Montserrat"/>
              </a:endParaRPr>
            </a:p>
            <a:p>
              <a:pPr indent="0" lvl="0" marL="0" rtl="0" algn="l">
                <a:spcBef>
                  <a:spcPts val="0"/>
                </a:spcBef>
                <a:spcAft>
                  <a:spcPts val="0"/>
                </a:spcAft>
                <a:buNone/>
              </a:pPr>
              <a:r>
                <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sz="900">
                  <a:solidFill>
                    <a:srgbClr val="3C3C3A"/>
                  </a:solidFill>
                  <a:latin typeface="Montserrat"/>
                  <a:ea typeface="Montserrat"/>
                  <a:cs typeface="Montserrat"/>
                  <a:sym typeface="Montserrat"/>
                </a:rPr>
                <a:t>Tunisian Coast Guard - IsMaris Project</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Développeur Full Stack Java/ JSF - Primefaces - RDB - J2EE - jBoss</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1.5 year- </a:t>
              </a:r>
              <a:r>
                <a:rPr lang="en-GB" sz="700">
                  <a:solidFill>
                    <a:srgbClr val="3C3C3A"/>
                  </a:solidFill>
                  <a:latin typeface="Montserrat"/>
                  <a:ea typeface="Montserrat"/>
                  <a:cs typeface="Montserrat"/>
                  <a:sym typeface="Montserrat"/>
                </a:rPr>
                <a:t>2 Developers and a Project Manager</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sz="900">
                  <a:solidFill>
                    <a:srgbClr val="3C3C3A"/>
                  </a:solidFill>
                  <a:latin typeface="Montserrat"/>
                  <a:ea typeface="Montserrat"/>
                  <a:cs typeface="Montserrat"/>
                  <a:sym typeface="Montserrat"/>
                </a:rPr>
                <a:t>First Delivery Group - Treasury &amp; Main platform</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Développeur Web Java et développement Koa.js - Angular - NodeJs</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9 months- </a:t>
              </a:r>
              <a:r>
                <a:rPr lang="en-GB" sz="700">
                  <a:solidFill>
                    <a:srgbClr val="3C3C3A"/>
                  </a:solidFill>
                  <a:latin typeface="Montserrat"/>
                  <a:ea typeface="Montserrat"/>
                  <a:cs typeface="Montserrat"/>
                  <a:sym typeface="Montserrat"/>
                </a:rPr>
                <a:t> A team of 8 memberes</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sz="900">
                  <a:solidFill>
                    <a:srgbClr val="3C3C3A"/>
                  </a:solidFill>
                  <a:latin typeface="Montserrat"/>
                  <a:ea typeface="Montserrat"/>
                  <a:cs typeface="Montserrat"/>
                  <a:sym typeface="Montserrat"/>
                </a:rPr>
                <a:t>Institute of the Francophonie for Sustainable Development - TerVie</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Développeur Android Java  / Développeur Web NodeJs-Express-MongoDB</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6 months- </a:t>
              </a:r>
              <a:r>
                <a:rPr lang="en-GB" sz="700">
                  <a:solidFill>
                    <a:srgbClr val="3C3C3A"/>
                  </a:solidFill>
                  <a:latin typeface="Montserrat"/>
                  <a:ea typeface="Montserrat"/>
                  <a:cs typeface="Montserrat"/>
                  <a:sym typeface="Montserrat"/>
                </a:rPr>
                <a:t> 2 developers supervised by the CTO</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sz="900">
                  <a:solidFill>
                    <a:srgbClr val="3C3C3A"/>
                  </a:solidFill>
                  <a:latin typeface="Montserrat"/>
                  <a:ea typeface="Montserrat"/>
                  <a:cs typeface="Montserrat"/>
                  <a:sym typeface="Montserrat"/>
                </a:rPr>
                <a:t>Ionbond IHI Group - Ionbond troubleshoot</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Développeur Android Java</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5 months- </a:t>
              </a:r>
              <a:r>
                <a:rPr lang="en-GB" sz="700">
                  <a:solidFill>
                    <a:srgbClr val="3C3C3A"/>
                  </a:solidFill>
                  <a:latin typeface="Montserrat"/>
                  <a:ea typeface="Montserrat"/>
                  <a:cs typeface="Montserrat"/>
                  <a:sym typeface="Montserrat"/>
                </a:rPr>
                <a:t>2 Developers and a Project Manager</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sz="900">
                  <a:solidFill>
                    <a:srgbClr val="3C3C3A"/>
                  </a:solidFill>
                  <a:latin typeface="Montserrat"/>
                  <a:ea typeface="Montserrat"/>
                  <a:cs typeface="Montserrat"/>
                  <a:sym typeface="Montserrat"/>
                </a:rPr>
                <a:t>SIAM - Xivo </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Technical consultant </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3 months</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 </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sz="900">
                  <a:solidFill>
                    <a:srgbClr val="3C3C3A"/>
                  </a:solidFill>
                  <a:latin typeface="Montserrat"/>
                  <a:ea typeface="Montserrat"/>
                  <a:cs typeface="Montserrat"/>
                  <a:sym typeface="Montserrat"/>
                </a:rPr>
                <a:t>Telnet Holding - Ingenico database parser</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Intern</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900">
                  <a:solidFill>
                    <a:srgbClr val="3C3C3A"/>
                  </a:solidFill>
                  <a:latin typeface="Montserrat"/>
                  <a:ea typeface="Montserrat"/>
                  <a:cs typeface="Montserrat"/>
                  <a:sym typeface="Montserrat"/>
                </a:rPr>
                <a:t>6 mois</a:t>
              </a:r>
              <a:endParaRPr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7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grpSp>
      <p:sp>
        <p:nvSpPr>
          <p:cNvPr id="60" name="Google Shape;60;p13"/>
          <p:cNvSpPr txBox="1"/>
          <p:nvPr/>
        </p:nvSpPr>
        <p:spPr>
          <a:xfrm>
            <a:off x="606413" y="3110955"/>
            <a:ext cx="1752900" cy="7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Trainings &amp;</a:t>
            </a:r>
            <a:r>
              <a:rPr b="1" lang="en-GB" sz="1200">
                <a:solidFill>
                  <a:srgbClr val="F8485E"/>
                </a:solidFill>
                <a:latin typeface="Montserrat"/>
                <a:ea typeface="Montserrat"/>
                <a:cs typeface="Montserrat"/>
                <a:sym typeface="Montserrat"/>
              </a:rPr>
              <a:t> CERTIFICATIONS</a:t>
            </a:r>
            <a:endParaRPr b="1" sz="1200">
              <a:solidFill>
                <a:srgbClr val="F8485E"/>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1" sz="1200">
              <a:solidFill>
                <a:srgbClr val="F8485E"/>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1" sz="1200">
              <a:solidFill>
                <a:srgbClr val="F8485E"/>
              </a:solidFill>
              <a:latin typeface="Montserrat"/>
              <a:ea typeface="Montserrat"/>
              <a:cs typeface="Montserrat"/>
              <a:sym typeface="Montserrat"/>
            </a:endParaRPr>
          </a:p>
        </p:txBody>
      </p:sp>
      <p:sp>
        <p:nvSpPr>
          <p:cNvPr id="61" name="Google Shape;61;p13"/>
          <p:cNvSpPr txBox="1"/>
          <p:nvPr/>
        </p:nvSpPr>
        <p:spPr>
          <a:xfrm>
            <a:off x="949500" y="4687725"/>
            <a:ext cx="1752900" cy="702900"/>
          </a:xfrm>
          <a:prstGeom prst="rect">
            <a:avLst/>
          </a:prstGeom>
          <a:noFill/>
          <a:ln>
            <a:noFill/>
          </a:ln>
        </p:spPr>
        <p:txBody>
          <a:bodyPr anchorCtr="0" anchor="t" bIns="91425" lIns="91425" spcFirstLastPara="1" rIns="91425" wrap="square" tIns="0">
            <a:noAutofit/>
          </a:bodyPr>
          <a:lstStyle/>
          <a:p>
            <a:pPr indent="0" lvl="0" marL="0" rtl="0" algn="l">
              <a:lnSpc>
                <a:spcPct val="110000"/>
              </a:lnSpc>
              <a:spcBef>
                <a:spcPts val="600"/>
              </a:spcBef>
              <a:spcAft>
                <a:spcPts val="0"/>
              </a:spcAft>
              <a:buClr>
                <a:srgbClr val="000000"/>
              </a:buClr>
              <a:buSzPts val="1000"/>
              <a:buFont typeface="Arial"/>
              <a:buNone/>
            </a:pPr>
            <a:r>
              <a:rPr b="1" lang="en-GB" sz="900">
                <a:solidFill>
                  <a:srgbClr val="3C3C3A"/>
                </a:solidFill>
                <a:latin typeface="Montserrat"/>
                <a:ea typeface="Montserrat"/>
                <a:cs typeface="Montserrat"/>
                <a:sym typeface="Montserrat"/>
              </a:rPr>
              <a:t>Certifications</a:t>
            </a:r>
            <a:br>
              <a:rPr lang="en-GB" sz="900">
                <a:solidFill>
                  <a:srgbClr val="3C3C3A"/>
                </a:solidFill>
                <a:latin typeface="Montserrat"/>
                <a:ea typeface="Montserrat"/>
                <a:cs typeface="Montserrat"/>
                <a:sym typeface="Montserrat"/>
              </a:rPr>
            </a:br>
            <a:r>
              <a:rPr lang="en-GB" sz="900">
                <a:solidFill>
                  <a:srgbClr val="3C3C3A"/>
                </a:solidFill>
                <a:latin typeface="Montserrat"/>
                <a:ea typeface="Montserrat"/>
                <a:cs typeface="Montserrat"/>
                <a:sym typeface="Montserrat"/>
              </a:rPr>
              <a:t>2024: Understanding the OWASP® Top 10 Security Threats (SKF100)</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700">
                <a:solidFill>
                  <a:srgbClr val="6AA84F"/>
                </a:solidFill>
                <a:highlight>
                  <a:schemeClr val="lt1"/>
                </a:highlight>
                <a:latin typeface="Montserrat"/>
                <a:ea typeface="Montserrat"/>
                <a:cs typeface="Montserrat"/>
                <a:sym typeface="Montserrat"/>
              </a:rPr>
              <a:t>( EN COURS )</a:t>
            </a:r>
            <a:endParaRPr b="1" sz="700">
              <a:solidFill>
                <a:srgbClr val="6AA84F"/>
              </a:solidFill>
              <a:highlight>
                <a:schemeClr val="lt1"/>
              </a:highlight>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i="0" sz="1200" u="none" cap="none" strike="noStrike">
              <a:solidFill>
                <a:srgbClr val="3C3C3A"/>
              </a:solidFill>
              <a:latin typeface="Montserrat"/>
              <a:ea typeface="Montserrat"/>
              <a:cs typeface="Montserrat"/>
              <a:sym typeface="Montserrat"/>
            </a:endParaRPr>
          </a:p>
        </p:txBody>
      </p:sp>
      <p:sp>
        <p:nvSpPr>
          <p:cNvPr id="62" name="Google Shape;62;p13"/>
          <p:cNvSpPr txBox="1"/>
          <p:nvPr/>
        </p:nvSpPr>
        <p:spPr>
          <a:xfrm>
            <a:off x="639038" y="8291581"/>
            <a:ext cx="1752900" cy="33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LANGUES</a:t>
            </a:r>
            <a:endParaRPr b="1" i="0" sz="1400" u="none" cap="none" strike="noStrike">
              <a:solidFill>
                <a:srgbClr val="F8485E"/>
              </a:solidFill>
              <a:latin typeface="Montserrat"/>
              <a:ea typeface="Montserrat"/>
              <a:cs typeface="Montserrat"/>
              <a:sym typeface="Montserrat"/>
            </a:endParaRPr>
          </a:p>
        </p:txBody>
      </p:sp>
      <p:sp>
        <p:nvSpPr>
          <p:cNvPr id="63" name="Google Shape;63;p13"/>
          <p:cNvSpPr/>
          <p:nvPr/>
        </p:nvSpPr>
        <p:spPr>
          <a:xfrm>
            <a:off x="5095450" y="9925800"/>
            <a:ext cx="4782300" cy="47823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736030" y="8681629"/>
            <a:ext cx="572700" cy="572700"/>
          </a:xfrm>
          <a:prstGeom prst="ellipse">
            <a:avLst/>
          </a:prstGeom>
          <a:noFill/>
          <a:ln cap="flat" cmpd="sng" w="28575">
            <a:solidFill>
              <a:srgbClr val="F848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txBox="1"/>
          <p:nvPr/>
        </p:nvSpPr>
        <p:spPr>
          <a:xfrm>
            <a:off x="765736" y="8872628"/>
            <a:ext cx="513300" cy="1623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400"/>
              </a:spcBef>
              <a:spcAft>
                <a:spcPts val="0"/>
              </a:spcAft>
              <a:buClr>
                <a:srgbClr val="000000"/>
              </a:buClr>
              <a:buSzPts val="700"/>
              <a:buFont typeface="Arial"/>
              <a:buNone/>
            </a:pPr>
            <a:r>
              <a:rPr b="1" lang="en-GB" sz="600">
                <a:solidFill>
                  <a:srgbClr val="3C3C3A"/>
                </a:solidFill>
                <a:latin typeface="Montserrat"/>
                <a:ea typeface="Montserrat"/>
                <a:cs typeface="Montserrat"/>
                <a:sym typeface="Montserrat"/>
              </a:rPr>
              <a:t>Fluent</a:t>
            </a:r>
            <a:endParaRPr i="0" sz="600" u="none" cap="none" strike="noStrike">
              <a:solidFill>
                <a:srgbClr val="3C3C3A"/>
              </a:solidFill>
              <a:latin typeface="Montserrat"/>
              <a:ea typeface="Montserrat"/>
              <a:cs typeface="Montserrat"/>
              <a:sym typeface="Montserrat"/>
            </a:endParaRPr>
          </a:p>
        </p:txBody>
      </p:sp>
      <p:sp>
        <p:nvSpPr>
          <p:cNvPr id="66" name="Google Shape;66;p13"/>
          <p:cNvSpPr txBox="1"/>
          <p:nvPr/>
        </p:nvSpPr>
        <p:spPr>
          <a:xfrm>
            <a:off x="797696" y="9276190"/>
            <a:ext cx="449400" cy="1623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400"/>
              </a:spcBef>
              <a:spcAft>
                <a:spcPts val="0"/>
              </a:spcAft>
              <a:buClr>
                <a:srgbClr val="000000"/>
              </a:buClr>
              <a:buSzPts val="700"/>
              <a:buFont typeface="Arial"/>
              <a:buNone/>
            </a:pPr>
            <a:r>
              <a:rPr b="1" lang="en-GB" sz="600">
                <a:solidFill>
                  <a:srgbClr val="3C3C3A"/>
                </a:solidFill>
                <a:latin typeface="Montserrat"/>
                <a:ea typeface="Montserrat"/>
                <a:cs typeface="Montserrat"/>
                <a:sym typeface="Montserrat"/>
              </a:rPr>
              <a:t>Anglais</a:t>
            </a:r>
            <a:endParaRPr i="0" sz="600" u="none" cap="none" strike="noStrike">
              <a:solidFill>
                <a:srgbClr val="3C3C3A"/>
              </a:solidFill>
              <a:latin typeface="Montserrat"/>
              <a:ea typeface="Montserrat"/>
              <a:cs typeface="Montserrat"/>
              <a:sym typeface="Montserrat"/>
            </a:endParaRPr>
          </a:p>
        </p:txBody>
      </p:sp>
      <p:pic>
        <p:nvPicPr>
          <p:cNvPr id="67" name="Google Shape;67;p13"/>
          <p:cNvPicPr preferRelativeResize="0"/>
          <p:nvPr/>
        </p:nvPicPr>
        <p:blipFill rotWithShape="1">
          <a:blip r:embed="rId3">
            <a:alphaModFix/>
          </a:blip>
          <a:srcRect b="29" l="0" r="0" t="29"/>
          <a:stretch/>
        </p:blipFill>
        <p:spPr>
          <a:xfrm>
            <a:off x="530225" y="28425"/>
            <a:ext cx="1861724" cy="775900"/>
          </a:xfrm>
          <a:prstGeom prst="rect">
            <a:avLst/>
          </a:prstGeom>
          <a:noFill/>
          <a:ln>
            <a:noFill/>
          </a:ln>
        </p:spPr>
      </p:pic>
      <p:pic>
        <p:nvPicPr>
          <p:cNvPr id="68" name="Google Shape;68;p13"/>
          <p:cNvPicPr preferRelativeResize="0"/>
          <p:nvPr/>
        </p:nvPicPr>
        <p:blipFill>
          <a:blip r:embed="rId4">
            <a:alphaModFix/>
          </a:blip>
          <a:stretch>
            <a:fillRect/>
          </a:stretch>
        </p:blipFill>
        <p:spPr>
          <a:xfrm>
            <a:off x="747437" y="4785124"/>
            <a:ext cx="202076" cy="202076"/>
          </a:xfrm>
          <a:prstGeom prst="rect">
            <a:avLst/>
          </a:prstGeom>
          <a:noFill/>
          <a:ln>
            <a:noFill/>
          </a:ln>
        </p:spPr>
      </p:pic>
      <p:sp>
        <p:nvSpPr>
          <p:cNvPr id="69" name="Google Shape;69;p13"/>
          <p:cNvSpPr txBox="1"/>
          <p:nvPr/>
        </p:nvSpPr>
        <p:spPr>
          <a:xfrm>
            <a:off x="949500" y="3776700"/>
            <a:ext cx="1752900" cy="775800"/>
          </a:xfrm>
          <a:prstGeom prst="rect">
            <a:avLst/>
          </a:prstGeom>
          <a:noFill/>
          <a:ln>
            <a:noFill/>
          </a:ln>
        </p:spPr>
        <p:txBody>
          <a:bodyPr anchorCtr="0" anchor="t" bIns="91425" lIns="91425" spcFirstLastPara="1" rIns="91425" wrap="square" tIns="0">
            <a:noAutofit/>
          </a:bodyPr>
          <a:lstStyle/>
          <a:p>
            <a:pPr indent="0" lvl="0" marL="0" rtl="0" algn="l">
              <a:lnSpc>
                <a:spcPct val="110000"/>
              </a:lnSpc>
              <a:spcBef>
                <a:spcPts val="600"/>
              </a:spcBef>
              <a:spcAft>
                <a:spcPts val="0"/>
              </a:spcAft>
              <a:buClr>
                <a:srgbClr val="000000"/>
              </a:buClr>
              <a:buSzPts val="1000"/>
              <a:buFont typeface="Arial"/>
              <a:buNone/>
            </a:pPr>
            <a:r>
              <a:rPr b="1" lang="en-GB" sz="900">
                <a:solidFill>
                  <a:srgbClr val="3C3C3A"/>
                </a:solidFill>
                <a:latin typeface="Montserrat"/>
                <a:ea typeface="Montserrat"/>
                <a:cs typeface="Montserrat"/>
                <a:sym typeface="Montserrat"/>
              </a:rPr>
              <a:t>Certifications</a:t>
            </a:r>
            <a:br>
              <a:rPr lang="en-GB" sz="900">
                <a:solidFill>
                  <a:srgbClr val="3C3C3A"/>
                </a:solidFill>
                <a:latin typeface="Montserrat"/>
                <a:ea typeface="Montserrat"/>
                <a:cs typeface="Montserrat"/>
                <a:sym typeface="Montserrat"/>
              </a:rPr>
            </a:br>
            <a:r>
              <a:rPr lang="en-GB" sz="900">
                <a:solidFill>
                  <a:srgbClr val="3C3C3A"/>
                </a:solidFill>
                <a:latin typeface="Montserrat"/>
                <a:ea typeface="Montserrat"/>
                <a:cs typeface="Montserrat"/>
                <a:sym typeface="Montserrat"/>
              </a:rPr>
              <a:t>2024: GCP - </a:t>
            </a:r>
            <a:r>
              <a:rPr lang="en-GB" sz="900">
                <a:solidFill>
                  <a:srgbClr val="3C3C3A"/>
                </a:solidFill>
                <a:highlight>
                  <a:schemeClr val="lt1"/>
                </a:highlight>
                <a:latin typeface="Montserrat"/>
                <a:ea typeface="Montserrat"/>
                <a:cs typeface="Montserrat"/>
                <a:sym typeface="Montserrat"/>
              </a:rPr>
              <a:t>Associate Cloud Engineer </a:t>
            </a:r>
            <a:endParaRPr sz="900">
              <a:solidFill>
                <a:srgbClr val="3C3C3A"/>
              </a:solidFill>
              <a:highlight>
                <a:schemeClr val="lt1"/>
              </a:highlight>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rPr b="1" lang="en-GB" sz="700">
                <a:solidFill>
                  <a:srgbClr val="6AA84F"/>
                </a:solidFill>
                <a:highlight>
                  <a:schemeClr val="lt1"/>
                </a:highlight>
                <a:latin typeface="Montserrat"/>
                <a:ea typeface="Montserrat"/>
                <a:cs typeface="Montserrat"/>
                <a:sym typeface="Montserrat"/>
              </a:rPr>
              <a:t>( EN COURS )</a:t>
            </a:r>
            <a:endParaRPr b="1" sz="700">
              <a:solidFill>
                <a:srgbClr val="6AA84F"/>
              </a:solidFill>
              <a:highlight>
                <a:schemeClr val="lt1"/>
              </a:highlight>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i="0" sz="1200" u="none" cap="none" strike="noStrike">
              <a:solidFill>
                <a:srgbClr val="3C3C3A"/>
              </a:solidFill>
              <a:latin typeface="Montserrat"/>
              <a:ea typeface="Montserrat"/>
              <a:cs typeface="Montserrat"/>
              <a:sym typeface="Montserrat"/>
            </a:endParaRPr>
          </a:p>
        </p:txBody>
      </p:sp>
      <p:pic>
        <p:nvPicPr>
          <p:cNvPr id="70" name="Google Shape;70;p13"/>
          <p:cNvPicPr preferRelativeResize="0"/>
          <p:nvPr/>
        </p:nvPicPr>
        <p:blipFill>
          <a:blip r:embed="rId4">
            <a:alphaModFix/>
          </a:blip>
          <a:stretch>
            <a:fillRect/>
          </a:stretch>
        </p:blipFill>
        <p:spPr>
          <a:xfrm>
            <a:off x="747437" y="3874099"/>
            <a:ext cx="202076" cy="202076"/>
          </a:xfrm>
          <a:prstGeom prst="rect">
            <a:avLst/>
          </a:prstGeom>
          <a:noFill/>
          <a:ln>
            <a:noFill/>
          </a:ln>
        </p:spPr>
      </p:pic>
      <p:sp>
        <p:nvSpPr>
          <p:cNvPr id="71" name="Google Shape;71;p13"/>
          <p:cNvSpPr/>
          <p:nvPr/>
        </p:nvSpPr>
        <p:spPr>
          <a:xfrm>
            <a:off x="1509254" y="8681615"/>
            <a:ext cx="572700" cy="572700"/>
          </a:xfrm>
          <a:prstGeom prst="ellipse">
            <a:avLst/>
          </a:prstGeom>
          <a:noFill/>
          <a:ln cap="flat" cmpd="sng" w="28575">
            <a:solidFill>
              <a:srgbClr val="F848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txBox="1"/>
          <p:nvPr/>
        </p:nvSpPr>
        <p:spPr>
          <a:xfrm>
            <a:off x="1538960" y="8872614"/>
            <a:ext cx="513300" cy="1623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400"/>
              </a:spcBef>
              <a:spcAft>
                <a:spcPts val="0"/>
              </a:spcAft>
              <a:buClr>
                <a:srgbClr val="000000"/>
              </a:buClr>
              <a:buSzPts val="700"/>
              <a:buFont typeface="Arial"/>
              <a:buNone/>
            </a:pPr>
            <a:r>
              <a:rPr b="1" lang="en-GB" sz="600">
                <a:solidFill>
                  <a:srgbClr val="3C3C3A"/>
                </a:solidFill>
                <a:latin typeface="Montserrat"/>
                <a:ea typeface="Montserrat"/>
                <a:cs typeface="Montserrat"/>
                <a:sym typeface="Montserrat"/>
              </a:rPr>
              <a:t>Fluent</a:t>
            </a:r>
            <a:endParaRPr i="0" sz="600" u="none" cap="none" strike="noStrike">
              <a:solidFill>
                <a:srgbClr val="3C3C3A"/>
              </a:solidFill>
              <a:latin typeface="Montserrat"/>
              <a:ea typeface="Montserrat"/>
              <a:cs typeface="Montserrat"/>
              <a:sym typeface="Montserrat"/>
            </a:endParaRPr>
          </a:p>
        </p:txBody>
      </p:sp>
      <p:sp>
        <p:nvSpPr>
          <p:cNvPr id="73" name="Google Shape;73;p13"/>
          <p:cNvSpPr txBox="1"/>
          <p:nvPr/>
        </p:nvSpPr>
        <p:spPr>
          <a:xfrm>
            <a:off x="1570921" y="9276176"/>
            <a:ext cx="449400" cy="1623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400"/>
              </a:spcBef>
              <a:spcAft>
                <a:spcPts val="0"/>
              </a:spcAft>
              <a:buClr>
                <a:srgbClr val="000000"/>
              </a:buClr>
              <a:buSzPts val="700"/>
              <a:buFont typeface="Arial"/>
              <a:buNone/>
            </a:pPr>
            <a:r>
              <a:rPr b="1" lang="en-GB" sz="600">
                <a:solidFill>
                  <a:srgbClr val="3C3C3A"/>
                </a:solidFill>
                <a:latin typeface="Montserrat"/>
                <a:ea typeface="Montserrat"/>
                <a:cs typeface="Montserrat"/>
                <a:sym typeface="Montserrat"/>
              </a:rPr>
              <a:t>Français</a:t>
            </a:r>
            <a:endParaRPr i="0" sz="600" u="none" cap="none" strike="noStrike">
              <a:solidFill>
                <a:srgbClr val="3C3C3A"/>
              </a:solidFill>
              <a:latin typeface="Montserrat"/>
              <a:ea typeface="Montserrat"/>
              <a:cs typeface="Montserrat"/>
              <a:sym typeface="Montserrat"/>
            </a:endParaRPr>
          </a:p>
        </p:txBody>
      </p:sp>
      <p:sp>
        <p:nvSpPr>
          <p:cNvPr id="74" name="Google Shape;74;p13"/>
          <p:cNvSpPr/>
          <p:nvPr/>
        </p:nvSpPr>
        <p:spPr>
          <a:xfrm>
            <a:off x="1129213" y="9460382"/>
            <a:ext cx="572700" cy="572700"/>
          </a:xfrm>
          <a:prstGeom prst="ellipse">
            <a:avLst/>
          </a:prstGeom>
          <a:noFill/>
          <a:ln cap="flat" cmpd="sng" w="28575">
            <a:solidFill>
              <a:srgbClr val="F848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txBox="1"/>
          <p:nvPr/>
        </p:nvSpPr>
        <p:spPr>
          <a:xfrm>
            <a:off x="1158918" y="9651382"/>
            <a:ext cx="513300" cy="162300"/>
          </a:xfrm>
          <a:prstGeom prst="rect">
            <a:avLst/>
          </a:prstGeom>
          <a:noFill/>
          <a:ln>
            <a:noFill/>
          </a:ln>
        </p:spPr>
        <p:txBody>
          <a:bodyPr anchorCtr="0" anchor="t" bIns="0" lIns="0" spcFirstLastPara="1" rIns="0" wrap="square" tIns="0">
            <a:noAutofit/>
          </a:bodyPr>
          <a:lstStyle/>
          <a:p>
            <a:pPr indent="0" lvl="0" marL="0" rtl="0" algn="ctr">
              <a:lnSpc>
                <a:spcPct val="110000"/>
              </a:lnSpc>
              <a:spcBef>
                <a:spcPts val="400"/>
              </a:spcBef>
              <a:spcAft>
                <a:spcPts val="0"/>
              </a:spcAft>
              <a:buClr>
                <a:schemeClr val="dk1"/>
              </a:buClr>
              <a:buSzPts val="700"/>
              <a:buFont typeface="Arial"/>
              <a:buNone/>
            </a:pPr>
            <a:r>
              <a:rPr b="1" lang="en-GB" sz="600">
                <a:solidFill>
                  <a:srgbClr val="3C3C3A"/>
                </a:solidFill>
                <a:latin typeface="Montserrat"/>
                <a:ea typeface="Montserrat"/>
                <a:cs typeface="Montserrat"/>
                <a:sym typeface="Montserrat"/>
              </a:rPr>
              <a:t>Native</a:t>
            </a:r>
            <a:endParaRPr i="0" sz="600" u="none" cap="none" strike="noStrike">
              <a:solidFill>
                <a:srgbClr val="3C3C3A"/>
              </a:solidFill>
              <a:latin typeface="Montserrat"/>
              <a:ea typeface="Montserrat"/>
              <a:cs typeface="Montserrat"/>
              <a:sym typeface="Montserrat"/>
            </a:endParaRPr>
          </a:p>
        </p:txBody>
      </p:sp>
      <p:sp>
        <p:nvSpPr>
          <p:cNvPr id="76" name="Google Shape;76;p13"/>
          <p:cNvSpPr txBox="1"/>
          <p:nvPr/>
        </p:nvSpPr>
        <p:spPr>
          <a:xfrm>
            <a:off x="1190879" y="10054944"/>
            <a:ext cx="449400" cy="1623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400"/>
              </a:spcBef>
              <a:spcAft>
                <a:spcPts val="0"/>
              </a:spcAft>
              <a:buClr>
                <a:srgbClr val="000000"/>
              </a:buClr>
              <a:buSzPts val="700"/>
              <a:buFont typeface="Arial"/>
              <a:buNone/>
            </a:pPr>
            <a:r>
              <a:rPr b="1" lang="en-GB" sz="600">
                <a:solidFill>
                  <a:srgbClr val="3C3C3A"/>
                </a:solidFill>
                <a:latin typeface="Montserrat"/>
                <a:ea typeface="Montserrat"/>
                <a:cs typeface="Montserrat"/>
                <a:sym typeface="Montserrat"/>
              </a:rPr>
              <a:t>Arabe</a:t>
            </a:r>
            <a:endParaRPr i="0" sz="600" u="none" cap="none" strike="noStrike">
              <a:solidFill>
                <a:srgbClr val="3C3C3A"/>
              </a:solidFill>
              <a:latin typeface="Montserrat"/>
              <a:ea typeface="Montserrat"/>
              <a:cs typeface="Montserrat"/>
              <a:sym typeface="Montserrat"/>
            </a:endParaRPr>
          </a:p>
        </p:txBody>
      </p:sp>
      <p:sp>
        <p:nvSpPr>
          <p:cNvPr id="77" name="Google Shape;77;p13"/>
          <p:cNvSpPr txBox="1"/>
          <p:nvPr/>
        </p:nvSpPr>
        <p:spPr>
          <a:xfrm>
            <a:off x="949503" y="5674558"/>
            <a:ext cx="1752900" cy="702900"/>
          </a:xfrm>
          <a:prstGeom prst="rect">
            <a:avLst/>
          </a:prstGeom>
          <a:noFill/>
          <a:ln>
            <a:noFill/>
          </a:ln>
        </p:spPr>
        <p:txBody>
          <a:bodyPr anchorCtr="0" anchor="t" bIns="91425" lIns="91425" spcFirstLastPara="1" rIns="91425" wrap="square" tIns="0">
            <a:noAutofit/>
          </a:bodyPr>
          <a:lstStyle/>
          <a:p>
            <a:pPr indent="0" lvl="0" marL="0" rtl="0" algn="l">
              <a:lnSpc>
                <a:spcPct val="110000"/>
              </a:lnSpc>
              <a:spcBef>
                <a:spcPts val="600"/>
              </a:spcBef>
              <a:spcAft>
                <a:spcPts val="0"/>
              </a:spcAft>
              <a:buClr>
                <a:srgbClr val="000000"/>
              </a:buClr>
              <a:buSzPts val="1000"/>
              <a:buFont typeface="Arial"/>
              <a:buNone/>
            </a:pPr>
            <a:r>
              <a:rPr b="1" lang="en-GB" sz="900">
                <a:solidFill>
                  <a:srgbClr val="3C3C3A"/>
                </a:solidFill>
                <a:latin typeface="Montserrat"/>
                <a:ea typeface="Montserrat"/>
                <a:cs typeface="Montserrat"/>
                <a:sym typeface="Montserrat"/>
              </a:rPr>
              <a:t>Certifications</a:t>
            </a:r>
            <a:br>
              <a:rPr lang="en-GB" sz="900">
                <a:solidFill>
                  <a:srgbClr val="3C3C3A"/>
                </a:solidFill>
                <a:latin typeface="Montserrat"/>
                <a:ea typeface="Montserrat"/>
                <a:cs typeface="Montserrat"/>
                <a:sym typeface="Montserrat"/>
              </a:rPr>
            </a:br>
            <a:r>
              <a:rPr lang="en-GB" sz="900">
                <a:solidFill>
                  <a:srgbClr val="3C3C3A"/>
                </a:solidFill>
                <a:latin typeface="Montserrat"/>
                <a:ea typeface="Montserrat"/>
                <a:cs typeface="Montserrat"/>
                <a:sym typeface="Montserrat"/>
              </a:rPr>
              <a:t>2024: Green Software for Practitioners (LFC131)</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rPr lang="en-GB" sz="900">
                <a:solidFill>
                  <a:srgbClr val="3C3C3A"/>
                </a:solidFill>
                <a:latin typeface="Montserrat"/>
                <a:ea typeface="Montserrat"/>
                <a:cs typeface="Montserrat"/>
                <a:sym typeface="Montserrat"/>
              </a:rPr>
              <a:t>NB#: LF-nr30gsv5jx</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t/>
            </a:r>
            <a:endParaRPr b="1" sz="700">
              <a:solidFill>
                <a:srgbClr val="6AA84F"/>
              </a:solidFill>
              <a:highlight>
                <a:schemeClr val="lt1"/>
              </a:highlight>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i="0" sz="1200" u="none" cap="none" strike="noStrike">
              <a:solidFill>
                <a:srgbClr val="3C3C3A"/>
              </a:solidFill>
              <a:latin typeface="Montserrat"/>
              <a:ea typeface="Montserrat"/>
              <a:cs typeface="Montserrat"/>
              <a:sym typeface="Montserrat"/>
            </a:endParaRPr>
          </a:p>
        </p:txBody>
      </p:sp>
      <p:pic>
        <p:nvPicPr>
          <p:cNvPr id="78" name="Google Shape;78;p13"/>
          <p:cNvPicPr preferRelativeResize="0"/>
          <p:nvPr/>
        </p:nvPicPr>
        <p:blipFill>
          <a:blip r:embed="rId4">
            <a:alphaModFix/>
          </a:blip>
          <a:stretch>
            <a:fillRect/>
          </a:stretch>
        </p:blipFill>
        <p:spPr>
          <a:xfrm>
            <a:off x="747427" y="5781557"/>
            <a:ext cx="202076" cy="202076"/>
          </a:xfrm>
          <a:prstGeom prst="rect">
            <a:avLst/>
          </a:prstGeom>
          <a:noFill/>
          <a:ln>
            <a:noFill/>
          </a:ln>
        </p:spPr>
      </p:pic>
      <p:sp>
        <p:nvSpPr>
          <p:cNvPr id="79" name="Google Shape;79;p13"/>
          <p:cNvSpPr txBox="1"/>
          <p:nvPr/>
        </p:nvSpPr>
        <p:spPr>
          <a:xfrm>
            <a:off x="927352" y="6536974"/>
            <a:ext cx="1752900" cy="702900"/>
          </a:xfrm>
          <a:prstGeom prst="rect">
            <a:avLst/>
          </a:prstGeom>
          <a:noFill/>
          <a:ln>
            <a:noFill/>
          </a:ln>
        </p:spPr>
        <p:txBody>
          <a:bodyPr anchorCtr="0" anchor="t" bIns="91425" lIns="91425" spcFirstLastPara="1" rIns="91425" wrap="square" tIns="0">
            <a:noAutofit/>
          </a:bodyPr>
          <a:lstStyle/>
          <a:p>
            <a:pPr indent="0" lvl="0" marL="0" rtl="0" algn="l">
              <a:lnSpc>
                <a:spcPct val="110000"/>
              </a:lnSpc>
              <a:spcBef>
                <a:spcPts val="600"/>
              </a:spcBef>
              <a:spcAft>
                <a:spcPts val="0"/>
              </a:spcAft>
              <a:buClr>
                <a:srgbClr val="000000"/>
              </a:buClr>
              <a:buSzPts val="1000"/>
              <a:buFont typeface="Arial"/>
              <a:buNone/>
            </a:pPr>
            <a:r>
              <a:rPr b="1" lang="en-GB" sz="900">
                <a:solidFill>
                  <a:srgbClr val="3C3C3A"/>
                </a:solidFill>
                <a:latin typeface="Montserrat"/>
                <a:ea typeface="Montserrat"/>
                <a:cs typeface="Montserrat"/>
                <a:sym typeface="Montserrat"/>
              </a:rPr>
              <a:t>Certifications</a:t>
            </a:r>
            <a:br>
              <a:rPr lang="en-GB" sz="900">
                <a:solidFill>
                  <a:srgbClr val="3C3C3A"/>
                </a:solidFill>
                <a:latin typeface="Montserrat"/>
                <a:ea typeface="Montserrat"/>
                <a:cs typeface="Montserrat"/>
                <a:sym typeface="Montserrat"/>
              </a:rPr>
            </a:br>
            <a:r>
              <a:rPr lang="en-GB" sz="900">
                <a:solidFill>
                  <a:srgbClr val="3C3C3A"/>
                </a:solidFill>
                <a:latin typeface="Montserrat"/>
                <a:ea typeface="Montserrat"/>
                <a:cs typeface="Montserrat"/>
                <a:sym typeface="Montserrat"/>
              </a:rPr>
              <a:t>2024: Developing Secure Software (LFD121)</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rPr lang="en-GB" sz="900">
                <a:solidFill>
                  <a:srgbClr val="3C3C3A"/>
                </a:solidFill>
                <a:latin typeface="Montserrat"/>
                <a:ea typeface="Montserrat"/>
                <a:cs typeface="Montserrat"/>
                <a:sym typeface="Montserrat"/>
              </a:rPr>
              <a:t>NB#:  LF-uzz8mzxo1t</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t/>
            </a:r>
            <a:endParaRPr b="1" sz="700">
              <a:solidFill>
                <a:srgbClr val="6AA84F"/>
              </a:solidFill>
              <a:highlight>
                <a:schemeClr val="lt1"/>
              </a:highlight>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i="0" sz="1200" u="none" cap="none" strike="noStrike">
              <a:solidFill>
                <a:srgbClr val="3C3C3A"/>
              </a:solidFill>
              <a:latin typeface="Montserrat"/>
              <a:ea typeface="Montserrat"/>
              <a:cs typeface="Montserrat"/>
              <a:sym typeface="Montserrat"/>
            </a:endParaRPr>
          </a:p>
        </p:txBody>
      </p:sp>
      <p:pic>
        <p:nvPicPr>
          <p:cNvPr id="80" name="Google Shape;80;p13"/>
          <p:cNvPicPr preferRelativeResize="0"/>
          <p:nvPr/>
        </p:nvPicPr>
        <p:blipFill>
          <a:blip r:embed="rId4">
            <a:alphaModFix/>
          </a:blip>
          <a:stretch>
            <a:fillRect/>
          </a:stretch>
        </p:blipFill>
        <p:spPr>
          <a:xfrm>
            <a:off x="725276" y="6643973"/>
            <a:ext cx="202076" cy="202076"/>
          </a:xfrm>
          <a:prstGeom prst="rect">
            <a:avLst/>
          </a:prstGeom>
          <a:noFill/>
          <a:ln>
            <a:noFill/>
          </a:ln>
        </p:spPr>
      </p:pic>
      <p:sp>
        <p:nvSpPr>
          <p:cNvPr id="81" name="Google Shape;81;p13"/>
          <p:cNvSpPr txBox="1"/>
          <p:nvPr/>
        </p:nvSpPr>
        <p:spPr>
          <a:xfrm>
            <a:off x="919156" y="7331758"/>
            <a:ext cx="1752900" cy="702900"/>
          </a:xfrm>
          <a:prstGeom prst="rect">
            <a:avLst/>
          </a:prstGeom>
          <a:noFill/>
          <a:ln>
            <a:noFill/>
          </a:ln>
        </p:spPr>
        <p:txBody>
          <a:bodyPr anchorCtr="0" anchor="t" bIns="91425" lIns="91425" spcFirstLastPara="1" rIns="91425" wrap="square" tIns="0">
            <a:noAutofit/>
          </a:bodyPr>
          <a:lstStyle/>
          <a:p>
            <a:pPr indent="0" lvl="0" marL="0" rtl="0" algn="l">
              <a:lnSpc>
                <a:spcPct val="110000"/>
              </a:lnSpc>
              <a:spcBef>
                <a:spcPts val="600"/>
              </a:spcBef>
              <a:spcAft>
                <a:spcPts val="0"/>
              </a:spcAft>
              <a:buClr>
                <a:srgbClr val="000000"/>
              </a:buClr>
              <a:buSzPts val="1000"/>
              <a:buFont typeface="Arial"/>
              <a:buNone/>
            </a:pPr>
            <a:r>
              <a:rPr b="1" lang="en-GB" sz="900">
                <a:solidFill>
                  <a:srgbClr val="3C3C3A"/>
                </a:solidFill>
                <a:latin typeface="Montserrat"/>
                <a:ea typeface="Montserrat"/>
                <a:cs typeface="Montserrat"/>
                <a:sym typeface="Montserrat"/>
              </a:rPr>
              <a:t>Diplôme</a:t>
            </a:r>
            <a:br>
              <a:rPr lang="en-GB" sz="900">
                <a:solidFill>
                  <a:srgbClr val="3C3C3A"/>
                </a:solidFill>
                <a:latin typeface="Montserrat"/>
                <a:ea typeface="Montserrat"/>
                <a:cs typeface="Montserrat"/>
                <a:sym typeface="Montserrat"/>
              </a:rPr>
            </a:br>
            <a:r>
              <a:rPr lang="en-GB" sz="900">
                <a:solidFill>
                  <a:srgbClr val="3C3C3A"/>
                </a:solidFill>
                <a:latin typeface="Montserrat"/>
                <a:ea typeface="Montserrat"/>
                <a:cs typeface="Montserrat"/>
                <a:sym typeface="Montserrat"/>
              </a:rPr>
              <a:t>2020: Masters in IT Networks and telecommunications</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rPr b="1" lang="en-GB" sz="900">
                <a:solidFill>
                  <a:srgbClr val="3C3C3A"/>
                </a:solidFill>
                <a:latin typeface="Montserrat"/>
                <a:ea typeface="Montserrat"/>
                <a:cs typeface="Montserrat"/>
                <a:sym typeface="Montserrat"/>
              </a:rPr>
              <a:t>ENET’Com : </a:t>
            </a:r>
            <a:r>
              <a:rPr lang="en-GB" sz="900">
                <a:solidFill>
                  <a:srgbClr val="3C3C3A"/>
                </a:solidFill>
                <a:latin typeface="Montserrat"/>
                <a:ea typeface="Montserrat"/>
                <a:cs typeface="Montserrat"/>
                <a:sym typeface="Montserrat"/>
              </a:rPr>
              <a:t>Sfax</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t/>
            </a:r>
            <a:endParaRPr b="1" sz="700">
              <a:solidFill>
                <a:srgbClr val="6AA84F"/>
              </a:solidFill>
              <a:highlight>
                <a:schemeClr val="lt1"/>
              </a:highlight>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sz="900">
              <a:solidFill>
                <a:srgbClr val="3C3C3A"/>
              </a:solidFill>
              <a:latin typeface="Montserrat"/>
              <a:ea typeface="Montserrat"/>
              <a:cs typeface="Montserrat"/>
              <a:sym typeface="Montserrat"/>
            </a:endParaRPr>
          </a:p>
          <a:p>
            <a:pPr indent="0" lvl="0" marL="0" rtl="0" algn="l">
              <a:lnSpc>
                <a:spcPct val="110000"/>
              </a:lnSpc>
              <a:spcBef>
                <a:spcPts val="600"/>
              </a:spcBef>
              <a:spcAft>
                <a:spcPts val="0"/>
              </a:spcAft>
              <a:buClr>
                <a:srgbClr val="000000"/>
              </a:buClr>
              <a:buSzPts val="1000"/>
              <a:buFont typeface="Arial"/>
              <a:buNone/>
            </a:pPr>
            <a:r>
              <a:t/>
            </a:r>
            <a:endParaRPr i="0" sz="1200" u="none" cap="none" strike="noStrike">
              <a:solidFill>
                <a:srgbClr val="3C3C3A"/>
              </a:solidFill>
              <a:latin typeface="Montserrat"/>
              <a:ea typeface="Montserrat"/>
              <a:cs typeface="Montserrat"/>
              <a:sym typeface="Montserrat"/>
            </a:endParaRPr>
          </a:p>
        </p:txBody>
      </p:sp>
      <p:pic>
        <p:nvPicPr>
          <p:cNvPr id="82" name="Google Shape;82;p13"/>
          <p:cNvPicPr preferRelativeResize="0"/>
          <p:nvPr/>
        </p:nvPicPr>
        <p:blipFill>
          <a:blip r:embed="rId4">
            <a:alphaModFix/>
          </a:blip>
          <a:stretch>
            <a:fillRect/>
          </a:stretch>
        </p:blipFill>
        <p:spPr>
          <a:xfrm>
            <a:off x="717080" y="7438757"/>
            <a:ext cx="202076" cy="202076"/>
          </a:xfrm>
          <a:prstGeom prst="rect">
            <a:avLst/>
          </a:prstGeom>
          <a:noFill/>
          <a:ln>
            <a:noFill/>
          </a:ln>
        </p:spPr>
      </p:pic>
      <p:pic>
        <p:nvPicPr>
          <p:cNvPr id="83" name="Google Shape;83;p13"/>
          <p:cNvPicPr preferRelativeResize="0"/>
          <p:nvPr/>
        </p:nvPicPr>
        <p:blipFill>
          <a:blip r:embed="rId5">
            <a:alphaModFix/>
          </a:blip>
          <a:stretch>
            <a:fillRect/>
          </a:stretch>
        </p:blipFill>
        <p:spPr>
          <a:xfrm>
            <a:off x="5181487" y="740637"/>
            <a:ext cx="1121951" cy="547725"/>
          </a:xfrm>
          <a:prstGeom prst="rect">
            <a:avLst/>
          </a:prstGeom>
          <a:noFill/>
          <a:ln>
            <a:noFill/>
          </a:ln>
        </p:spPr>
      </p:pic>
      <p:pic>
        <p:nvPicPr>
          <p:cNvPr id="84" name="Google Shape;84;p13"/>
          <p:cNvPicPr preferRelativeResize="0"/>
          <p:nvPr/>
        </p:nvPicPr>
        <p:blipFill>
          <a:blip r:embed="rId6">
            <a:alphaModFix/>
          </a:blip>
          <a:stretch>
            <a:fillRect/>
          </a:stretch>
        </p:blipFill>
        <p:spPr>
          <a:xfrm>
            <a:off x="6440225" y="772925"/>
            <a:ext cx="919625" cy="483150"/>
          </a:xfrm>
          <a:prstGeom prst="rect">
            <a:avLst/>
          </a:prstGeom>
          <a:noFill/>
          <a:ln>
            <a:noFill/>
          </a:ln>
        </p:spPr>
      </p:pic>
      <p:pic>
        <p:nvPicPr>
          <p:cNvPr id="85" name="Google Shape;85;p13"/>
          <p:cNvPicPr preferRelativeResize="0"/>
          <p:nvPr/>
        </p:nvPicPr>
        <p:blipFill>
          <a:blip r:embed="rId7">
            <a:alphaModFix/>
          </a:blip>
          <a:stretch>
            <a:fillRect/>
          </a:stretch>
        </p:blipFill>
        <p:spPr>
          <a:xfrm>
            <a:off x="5742950" y="1256075"/>
            <a:ext cx="919625" cy="5051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p:nvPr/>
        </p:nvSpPr>
        <p:spPr>
          <a:xfrm>
            <a:off x="-4611237" y="-79974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 name="Google Shape;91;p14"/>
          <p:cNvGrpSpPr/>
          <p:nvPr/>
        </p:nvGrpSpPr>
        <p:grpSpPr>
          <a:xfrm>
            <a:off x="2724150" y="2155289"/>
            <a:ext cx="4876175" cy="8414813"/>
            <a:chOff x="3055921" y="2088100"/>
            <a:chExt cx="4510800" cy="7797269"/>
          </a:xfrm>
        </p:grpSpPr>
        <p:sp>
          <p:nvSpPr>
            <p:cNvPr id="92" name="Google Shape;92;p14"/>
            <p:cNvSpPr txBox="1"/>
            <p:nvPr/>
          </p:nvSpPr>
          <p:spPr>
            <a:xfrm>
              <a:off x="3057701" y="2088100"/>
              <a:ext cx="4111200" cy="36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TECHNICAL SKILLS</a:t>
              </a:r>
              <a:endParaRPr b="1" i="0" sz="1200" u="none" cap="none" strike="noStrike">
                <a:solidFill>
                  <a:srgbClr val="F8485E"/>
                </a:solidFill>
                <a:latin typeface="Montserrat"/>
                <a:ea typeface="Montserrat"/>
                <a:cs typeface="Montserrat"/>
                <a:sym typeface="Montserrat"/>
              </a:endParaRPr>
            </a:p>
          </p:txBody>
        </p:sp>
        <p:sp>
          <p:nvSpPr>
            <p:cNvPr id="93" name="Google Shape;93;p14"/>
            <p:cNvSpPr txBox="1"/>
            <p:nvPr/>
          </p:nvSpPr>
          <p:spPr>
            <a:xfrm>
              <a:off x="3055921" y="2525169"/>
              <a:ext cx="4510800" cy="7360200"/>
            </a:xfrm>
            <a:prstGeom prst="rect">
              <a:avLst/>
            </a:prstGeom>
            <a:noFill/>
            <a:ln>
              <a:noFill/>
            </a:ln>
          </p:spPr>
          <p:txBody>
            <a:bodyPr anchorCtr="0" anchor="t" bIns="91425" lIns="91425" spcFirstLastPara="1" rIns="91425" wrap="square" tIns="90000">
              <a:noAutofit/>
            </a:bodyPr>
            <a:lstStyle/>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Web Development</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Front-End </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Angular, TypeScript, NgRx, JavaScript, HTML, XML, XHTML, JSP, CSS, SCSS, jQuery, Material Design, Bootstrap, Ionic, AdobeXD</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Back-End </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Java 21, Jakarta, Spring Boot 3, Spring 6, Spring Webflux, Spring JPA, Spring Security, Keycloak, J2EE, JSF, PrimeFaces, Express</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API &amp; Microservices</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Spring Cloud Gateway, Netflix Eureka, JAX-RS Jersey, REST API Design &amp; Architecture, JWT (JSON Web Tokens), Spring Webflux, Resilience4j</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Messaging</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Pub/Sub (RabbitMQ, Kafka)</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Mobile Development</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Android (Java)</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Cloud</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Firebase, P4D, Kubernetes, Docker, Helm</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Databases</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MySQL, PostgreSQL, Redis, MongoDB, Firestore, SQLite</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DevOps &amp; CI/CD</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Git, GitLab, Bitbucket, GitLab CI/CD, Jenkins, GitHub Actions</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Monitoring &amp; Observability</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Zipkin, Micrometer, Grafana, Prometheus</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Testing</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Mockito, JUnit</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ORMs </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Hibernate, Prisma</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Agile Principles </a:t>
              </a:r>
              <a:r>
                <a:rPr b="1" lang="en-GB" sz="1000">
                  <a:solidFill>
                    <a:schemeClr val="dk1"/>
                  </a:solidFill>
                  <a:latin typeface="Montserrat"/>
                  <a:ea typeface="Montserrat"/>
                  <a:cs typeface="Montserrat"/>
                  <a:sym typeface="Montserrat"/>
                </a:rPr>
                <a:t>&amp; Project Management Tools</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SCRUM, Kanban, JIRA</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b="1" lang="en-GB" sz="1000">
                  <a:solidFill>
                    <a:schemeClr val="dk1"/>
                  </a:solidFill>
                  <a:latin typeface="Montserrat"/>
                  <a:ea typeface="Montserrat"/>
                  <a:cs typeface="Montserrat"/>
                  <a:sym typeface="Montserrat"/>
                </a:rPr>
                <a:t>Operating Systems</a:t>
              </a:r>
              <a:endParaRPr b="1"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rPr lang="en-GB" sz="1000">
                  <a:solidFill>
                    <a:schemeClr val="dk1"/>
                  </a:solidFill>
                  <a:latin typeface="Montserrat"/>
                  <a:ea typeface="Montserrat"/>
                  <a:cs typeface="Montserrat"/>
                  <a:sym typeface="Montserrat"/>
                </a:rPr>
                <a:t>Windows, Linux, MacOS</a:t>
              </a:r>
              <a:endParaRPr sz="1000">
                <a:solidFill>
                  <a:schemeClr val="dk1"/>
                </a:solidFill>
                <a:latin typeface="Montserrat"/>
                <a:ea typeface="Montserrat"/>
                <a:cs typeface="Montserrat"/>
                <a:sym typeface="Montserrat"/>
              </a:endParaRPr>
            </a:p>
            <a:p>
              <a:pPr indent="0" lvl="0" marL="0" rtl="0" algn="l">
                <a:lnSpc>
                  <a:spcPct val="110000"/>
                </a:lnSpc>
                <a:spcBef>
                  <a:spcPts val="600"/>
                </a:spcBef>
                <a:spcAft>
                  <a:spcPts val="0"/>
                </a:spcAft>
                <a:buClr>
                  <a:schemeClr val="dk1"/>
                </a:buClr>
                <a:buSzPts val="1000"/>
                <a:buFont typeface="Arial"/>
                <a:buNone/>
              </a:pPr>
              <a:r>
                <a:t/>
              </a:r>
              <a:endParaRPr sz="1000">
                <a:solidFill>
                  <a:schemeClr val="dk1"/>
                </a:solidFill>
                <a:latin typeface="Montserrat"/>
                <a:ea typeface="Montserrat"/>
                <a:cs typeface="Montserrat"/>
                <a:sym typeface="Montserrat"/>
              </a:endParaRPr>
            </a:p>
          </p:txBody>
        </p:sp>
      </p:grpSp>
      <p:grpSp>
        <p:nvGrpSpPr>
          <p:cNvPr id="94" name="Google Shape;94;p14"/>
          <p:cNvGrpSpPr/>
          <p:nvPr/>
        </p:nvGrpSpPr>
        <p:grpSpPr>
          <a:xfrm>
            <a:off x="312700" y="3214027"/>
            <a:ext cx="1870671" cy="6711820"/>
            <a:chOff x="3056804" y="1755983"/>
            <a:chExt cx="4111365" cy="3765186"/>
          </a:xfrm>
        </p:grpSpPr>
        <p:sp>
          <p:nvSpPr>
            <p:cNvPr id="95" name="Google Shape;95;p14"/>
            <p:cNvSpPr txBox="1"/>
            <p:nvPr/>
          </p:nvSpPr>
          <p:spPr>
            <a:xfrm>
              <a:off x="3056969" y="1755983"/>
              <a:ext cx="4111200" cy="3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COMPÉTENCES FONCTIONNELLES</a:t>
              </a:r>
              <a:endParaRPr i="0" sz="1200" u="none" cap="none" strike="noStrike">
                <a:solidFill>
                  <a:srgbClr val="F8485E"/>
                </a:solidFill>
                <a:latin typeface="Montserrat SemiBold"/>
                <a:ea typeface="Montserrat SemiBold"/>
                <a:cs typeface="Montserrat SemiBold"/>
                <a:sym typeface="Montserrat SemiBold"/>
              </a:endParaRPr>
            </a:p>
          </p:txBody>
        </p:sp>
        <p:sp>
          <p:nvSpPr>
            <p:cNvPr id="96" name="Google Shape;96;p14"/>
            <p:cNvSpPr txBox="1"/>
            <p:nvPr/>
          </p:nvSpPr>
          <p:spPr>
            <a:xfrm>
              <a:off x="3056804" y="2120968"/>
              <a:ext cx="4111200" cy="3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chemeClr val="dk1"/>
                  </a:solidFill>
                  <a:latin typeface="Montserrat"/>
                  <a:ea typeface="Montserrat"/>
                  <a:cs typeface="Montserrat"/>
                  <a:sym typeface="Montserrat"/>
                </a:rPr>
                <a:t>Methodology and Formalism</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285750" lvl="0" marL="457200" rtl="0" algn="l">
                <a:lnSpc>
                  <a:spcPct val="115000"/>
                </a:lnSpc>
                <a:spcBef>
                  <a:spcPts val="0"/>
                </a:spcBef>
                <a:spcAft>
                  <a:spcPts val="0"/>
                </a:spcAft>
                <a:buClr>
                  <a:schemeClr val="dk1"/>
                </a:buClr>
                <a:buSzPts val="900"/>
                <a:buFont typeface="Montserrat Light"/>
                <a:buChar char="●"/>
              </a:pPr>
              <a:r>
                <a:rPr lang="en-GB" sz="900">
                  <a:solidFill>
                    <a:schemeClr val="dk1"/>
                  </a:solidFill>
                  <a:latin typeface="Montserrat Light"/>
                  <a:ea typeface="Montserrat Light"/>
                  <a:cs typeface="Montserrat Light"/>
                  <a:sym typeface="Montserrat Light"/>
                </a:rPr>
                <a:t>Analysis / UML Modeling Processes: Agile / Kanban</a:t>
              </a:r>
              <a:endParaRPr sz="900">
                <a:solidFill>
                  <a:schemeClr val="dk1"/>
                </a:solidFill>
                <a:latin typeface="Montserrat Light"/>
                <a:ea typeface="Montserrat Light"/>
                <a:cs typeface="Montserrat Light"/>
                <a:sym typeface="Montserrat Ligh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GB" sz="1000">
                  <a:solidFill>
                    <a:schemeClr val="dk1"/>
                  </a:solidFill>
                  <a:latin typeface="Montserrat"/>
                  <a:ea typeface="Montserrat"/>
                  <a:cs typeface="Montserrat"/>
                  <a:sym typeface="Montserrat"/>
                </a:rPr>
                <a:t>Software architecture </a:t>
              </a:r>
              <a:endParaRPr b="1"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285750" lvl="0" marL="457200" rtl="0" algn="l">
                <a:lnSpc>
                  <a:spcPct val="150000"/>
                </a:lnSpc>
                <a:spcBef>
                  <a:spcPts val="0"/>
                </a:spcBef>
                <a:spcAft>
                  <a:spcPts val="0"/>
                </a:spcAft>
                <a:buClr>
                  <a:schemeClr val="dk1"/>
                </a:buClr>
                <a:buSzPts val="900"/>
                <a:buFont typeface="Montserrat Light"/>
                <a:buChar char="●"/>
              </a:pPr>
              <a:r>
                <a:rPr lang="en-GB" sz="900">
                  <a:solidFill>
                    <a:schemeClr val="dk1"/>
                  </a:solidFill>
                  <a:latin typeface="Montserrat Light"/>
                  <a:ea typeface="Montserrat Light"/>
                  <a:cs typeface="Montserrat Light"/>
                  <a:sym typeface="Montserrat Light"/>
                </a:rPr>
                <a:t>Technical / Functional Studies</a:t>
              </a:r>
              <a:endParaRPr sz="900">
                <a:solidFill>
                  <a:schemeClr val="dk1"/>
                </a:solidFill>
                <a:latin typeface="Montserrat Light"/>
                <a:ea typeface="Montserrat Light"/>
                <a:cs typeface="Montserrat Light"/>
                <a:sym typeface="Montserrat Light"/>
              </a:endParaRPr>
            </a:p>
            <a:p>
              <a:pPr indent="-285750" lvl="0" marL="457200" rtl="0" algn="l">
                <a:lnSpc>
                  <a:spcPct val="150000"/>
                </a:lnSpc>
                <a:spcBef>
                  <a:spcPts val="0"/>
                </a:spcBef>
                <a:spcAft>
                  <a:spcPts val="0"/>
                </a:spcAft>
                <a:buClr>
                  <a:schemeClr val="dk1"/>
                </a:buClr>
                <a:buSzPts val="900"/>
                <a:buFont typeface="Montserrat Light"/>
                <a:buChar char="●"/>
              </a:pPr>
              <a:r>
                <a:rPr lang="en-GB" sz="900">
                  <a:solidFill>
                    <a:schemeClr val="dk1"/>
                  </a:solidFill>
                  <a:latin typeface="Montserrat Light"/>
                  <a:ea typeface="Montserrat Light"/>
                  <a:cs typeface="Montserrat Light"/>
                  <a:sym typeface="Montserrat Light"/>
                </a:rPr>
                <a:t>Familiar with Microservices architecture</a:t>
              </a:r>
              <a:endParaRPr sz="900">
                <a:solidFill>
                  <a:schemeClr val="dk1"/>
                </a:solidFill>
                <a:latin typeface="Montserrat Light"/>
                <a:ea typeface="Montserrat Light"/>
                <a:cs typeface="Montserrat Light"/>
                <a:sym typeface="Montserrat Light"/>
              </a:endParaRPr>
            </a:p>
            <a:p>
              <a:pPr indent="-285750" lvl="0" marL="457200" rtl="0" algn="l">
                <a:lnSpc>
                  <a:spcPct val="150000"/>
                </a:lnSpc>
                <a:spcBef>
                  <a:spcPts val="0"/>
                </a:spcBef>
                <a:spcAft>
                  <a:spcPts val="0"/>
                </a:spcAft>
                <a:buClr>
                  <a:schemeClr val="dk1"/>
                </a:buClr>
                <a:buSzPts val="900"/>
                <a:buFont typeface="Montserrat Light"/>
                <a:buChar char="●"/>
              </a:pPr>
              <a:r>
                <a:rPr lang="en-GB" sz="900">
                  <a:solidFill>
                    <a:schemeClr val="dk1"/>
                  </a:solidFill>
                  <a:latin typeface="Montserrat Light"/>
                  <a:ea typeface="Montserrat Light"/>
                  <a:cs typeface="Montserrat Light"/>
                  <a:sym typeface="Montserrat Light"/>
                </a:rPr>
                <a:t>Quality Monitoring and Control</a:t>
              </a:r>
              <a:endParaRPr sz="900">
                <a:solidFill>
                  <a:schemeClr val="dk1"/>
                </a:solidFill>
                <a:latin typeface="Montserrat Light"/>
                <a:ea typeface="Montserrat Light"/>
                <a:cs typeface="Montserrat Light"/>
                <a:sym typeface="Montserrat Light"/>
              </a:endParaRPr>
            </a:p>
            <a:p>
              <a:pPr indent="-285750" lvl="0" marL="457200" rtl="0" algn="l">
                <a:lnSpc>
                  <a:spcPct val="150000"/>
                </a:lnSpc>
                <a:spcBef>
                  <a:spcPts val="0"/>
                </a:spcBef>
                <a:spcAft>
                  <a:spcPts val="0"/>
                </a:spcAft>
                <a:buClr>
                  <a:schemeClr val="dk1"/>
                </a:buClr>
                <a:buSzPts val="900"/>
                <a:buFont typeface="Montserrat Light"/>
                <a:buChar char="●"/>
              </a:pPr>
              <a:r>
                <a:rPr lang="en-GB" sz="900">
                  <a:solidFill>
                    <a:schemeClr val="dk1"/>
                  </a:solidFill>
                  <a:latin typeface="Montserrat Light"/>
                  <a:ea typeface="Montserrat Light"/>
                  <a:cs typeface="Montserrat Light"/>
                  <a:sym typeface="Montserrat Light"/>
                </a:rPr>
                <a:t>Functional and Technical Documentation</a:t>
              </a:r>
              <a:endParaRPr sz="900">
                <a:solidFill>
                  <a:schemeClr val="dk1"/>
                </a:solidFill>
                <a:latin typeface="Montserrat Light"/>
                <a:ea typeface="Montserrat Light"/>
                <a:cs typeface="Montserrat Light"/>
                <a:sym typeface="Montserrat Light"/>
              </a:endParaRPr>
            </a:p>
            <a:p>
              <a:pPr indent="0" lvl="0" marL="0" rtl="0" algn="l">
                <a:spcBef>
                  <a:spcPts val="0"/>
                </a:spcBef>
                <a:spcAft>
                  <a:spcPts val="0"/>
                </a:spcAft>
                <a:buNone/>
              </a:pPr>
              <a:r>
                <a:t/>
              </a:r>
              <a:endParaRPr sz="900">
                <a:solidFill>
                  <a:srgbClr val="3C3C3A"/>
                </a:solidFill>
                <a:latin typeface="Montserrat Light"/>
                <a:ea typeface="Montserrat Light"/>
                <a:cs typeface="Montserrat Light"/>
                <a:sym typeface="Montserrat Light"/>
              </a:endParaRPr>
            </a:p>
            <a:p>
              <a:pPr indent="0" lvl="0" marL="0" rtl="0" algn="l">
                <a:lnSpc>
                  <a:spcPct val="110000"/>
                </a:lnSpc>
                <a:spcBef>
                  <a:spcPts val="600"/>
                </a:spcBef>
                <a:spcAft>
                  <a:spcPts val="0"/>
                </a:spcAft>
                <a:buClr>
                  <a:schemeClr val="dk1"/>
                </a:buClr>
                <a:buSzPts val="1100"/>
                <a:buFont typeface="Arial"/>
                <a:buNone/>
              </a:pPr>
              <a:r>
                <a:t/>
              </a:r>
              <a:endParaRPr sz="900">
                <a:solidFill>
                  <a:srgbClr val="3C3C3A"/>
                </a:solidFill>
                <a:latin typeface="Montserrat Light"/>
                <a:ea typeface="Montserrat Light"/>
                <a:cs typeface="Montserrat Light"/>
                <a:sym typeface="Montserrat Light"/>
              </a:endParaRPr>
            </a:p>
            <a:p>
              <a:pPr indent="0" lvl="0" marL="0" rtl="0" algn="l">
                <a:lnSpc>
                  <a:spcPct val="110000"/>
                </a:lnSpc>
                <a:spcBef>
                  <a:spcPts val="600"/>
                </a:spcBef>
                <a:spcAft>
                  <a:spcPts val="0"/>
                </a:spcAft>
                <a:buClr>
                  <a:schemeClr val="dk1"/>
                </a:buClr>
                <a:buSzPts val="1000"/>
                <a:buFont typeface="Arial"/>
                <a:buNone/>
              </a:pPr>
              <a:r>
                <a:t/>
              </a:r>
              <a:endParaRPr sz="900">
                <a:solidFill>
                  <a:srgbClr val="3C3C3A"/>
                </a:solidFill>
                <a:latin typeface="Montserrat Light"/>
                <a:ea typeface="Montserrat Light"/>
                <a:cs typeface="Montserrat Light"/>
                <a:sym typeface="Montserrat Light"/>
              </a:endParaRPr>
            </a:p>
          </p:txBody>
        </p:sp>
      </p:grpSp>
      <p:sp>
        <p:nvSpPr>
          <p:cNvPr id="97" name="Google Shape;97;p14"/>
          <p:cNvSpPr/>
          <p:nvPr/>
        </p:nvSpPr>
        <p:spPr>
          <a:xfrm>
            <a:off x="5127950" y="9839250"/>
            <a:ext cx="4782300" cy="47823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 name="Google Shape;98;p14"/>
          <p:cNvPicPr preferRelativeResize="0"/>
          <p:nvPr/>
        </p:nvPicPr>
        <p:blipFill rotWithShape="1">
          <a:blip r:embed="rId3">
            <a:alphaModFix/>
          </a:blip>
          <a:srcRect b="29" l="0" r="0" t="29"/>
          <a:stretch/>
        </p:blipFill>
        <p:spPr>
          <a:xfrm>
            <a:off x="540800" y="88225"/>
            <a:ext cx="1870602" cy="779600"/>
          </a:xfrm>
          <a:prstGeom prst="rect">
            <a:avLst/>
          </a:prstGeom>
          <a:noFill/>
          <a:ln>
            <a:noFill/>
          </a:ln>
        </p:spPr>
      </p:pic>
      <p:sp>
        <p:nvSpPr>
          <p:cNvPr id="99" name="Google Shape;99;p14"/>
          <p:cNvSpPr txBox="1"/>
          <p:nvPr/>
        </p:nvSpPr>
        <p:spPr>
          <a:xfrm>
            <a:off x="540799" y="938538"/>
            <a:ext cx="44544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600">
                <a:solidFill>
                  <a:srgbClr val="F8485E"/>
                </a:solidFill>
                <a:latin typeface="Montserrat"/>
                <a:ea typeface="Montserrat"/>
                <a:cs typeface="Montserrat"/>
                <a:sym typeface="Montserrat"/>
              </a:rPr>
              <a:t>Senior developer Full Stack Java/Angular</a:t>
            </a:r>
            <a:endParaRPr b="1" sz="1600">
              <a:solidFill>
                <a:srgbClr val="F8485E"/>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a:solidFill>
                  <a:srgbClr val="F8485E"/>
                </a:solidFill>
                <a:latin typeface="Montserrat"/>
                <a:ea typeface="Montserrat"/>
                <a:cs typeface="Montserrat"/>
                <a:sym typeface="Montserrat"/>
              </a:rPr>
              <a:t>4 années d’expériences</a:t>
            </a:r>
            <a:endParaRPr b="1" sz="1600">
              <a:solidFill>
                <a:srgbClr val="F8485E"/>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a:solidFill>
                <a:srgbClr val="F8485E"/>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GB">
                <a:solidFill>
                  <a:srgbClr val="3C3C3A"/>
                </a:solidFill>
                <a:latin typeface="Montserrat"/>
                <a:ea typeface="Montserrat"/>
                <a:cs typeface="Montserrat"/>
                <a:sym typeface="Montserrat"/>
              </a:rPr>
              <a:t>Z.A.O</a:t>
            </a:r>
            <a:endParaRPr b="1">
              <a:solidFill>
                <a:srgbClr val="3C3C3A"/>
              </a:solidFill>
              <a:latin typeface="Montserrat"/>
              <a:ea typeface="Montserrat"/>
              <a:cs typeface="Montserrat"/>
              <a:sym typeface="Montserrat"/>
            </a:endParaRPr>
          </a:p>
          <a:p>
            <a:pPr indent="0" lvl="0" marL="0" rtl="0" algn="l">
              <a:spcBef>
                <a:spcPts val="0"/>
              </a:spcBef>
              <a:spcAft>
                <a:spcPts val="0"/>
              </a:spcAft>
              <a:buNone/>
            </a:pPr>
            <a:r>
              <a:t/>
            </a:r>
            <a:endParaRPr b="1" sz="1600">
              <a:solidFill>
                <a:srgbClr val="F8485E"/>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nvSpPr>
        <p:spPr>
          <a:xfrm>
            <a:off x="2617000" y="1775300"/>
            <a:ext cx="4298400" cy="8341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EZ - Pass</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i="1" lang="en-GB" sz="1100">
                <a:solidFill>
                  <a:srgbClr val="3C3C3A"/>
                </a:solidFill>
                <a:latin typeface="Montserrat"/>
                <a:ea typeface="Montserrat"/>
                <a:cs typeface="Montserrat"/>
                <a:sym typeface="Montserrat"/>
              </a:rPr>
              <a:t>Full stack developer / Mobile Developer </a:t>
            </a:r>
            <a:r>
              <a:rPr b="1" i="1" lang="en-GB" sz="1100">
                <a:solidFill>
                  <a:srgbClr val="3C3C3A"/>
                </a:solidFill>
                <a:latin typeface="Montserrat"/>
                <a:ea typeface="Montserrat"/>
                <a:cs typeface="Montserrat"/>
                <a:sym typeface="Montserrat"/>
              </a:rPr>
              <a:t>  </a:t>
            </a:r>
            <a:r>
              <a:rPr b="1" i="1" lang="en-GB" sz="900">
                <a:solidFill>
                  <a:srgbClr val="3C3C3A"/>
                </a:solidFill>
                <a:latin typeface="Montserrat"/>
                <a:ea typeface="Montserrat"/>
                <a:cs typeface="Montserrat"/>
                <a:sym typeface="Montserrat"/>
              </a:rPr>
              <a:t> </a:t>
            </a:r>
            <a:r>
              <a:rPr b="1" i="1" lang="en-GB" sz="900">
                <a:solidFill>
                  <a:srgbClr val="3C3C3A"/>
                </a:solidFill>
                <a:latin typeface="Montserrat"/>
                <a:ea typeface="Montserrat"/>
                <a:cs typeface="Montserrat"/>
                <a:sym typeface="Montserrat"/>
              </a:rPr>
              <a:t>     </a:t>
            </a:r>
            <a:r>
              <a:rPr b="1" lang="en-GB" sz="900">
                <a:solidFill>
                  <a:srgbClr val="3C3C3A"/>
                </a:solidFill>
                <a:latin typeface="Montserrat"/>
                <a:ea typeface="Montserrat"/>
                <a:cs typeface="Montserrat"/>
                <a:sym typeface="Montserrat"/>
              </a:rPr>
              <a:t>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i="1" lang="en-GB" sz="900">
                <a:solidFill>
                  <a:srgbClr val="3C3C3A"/>
                </a:solidFill>
                <a:latin typeface="Montserrat"/>
                <a:ea typeface="Montserrat"/>
                <a:cs typeface="Montserrat"/>
                <a:sym typeface="Montserrat"/>
              </a:rPr>
              <a:t>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Context :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EZ-Pass is developing a project that leverages the bus fleets of fleet managers to offer affordable transportation to individuals and business employees, thereby optimizing existing resources to meet local needs.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Clr>
                <a:srgbClr val="000000"/>
              </a:buClr>
              <a:buSzPts val="1000"/>
              <a:buFont typeface="Arial"/>
              <a:buNone/>
            </a:pPr>
            <a:r>
              <a:t/>
            </a:r>
            <a:endParaRPr sz="900">
              <a:solidFill>
                <a:srgbClr val="595959"/>
              </a:solidFill>
              <a:highlight>
                <a:schemeClr val="lt1"/>
              </a:highlight>
              <a:latin typeface="Montserrat Light"/>
              <a:ea typeface="Montserrat Light"/>
              <a:cs typeface="Montserrat Light"/>
              <a:sym typeface="Montserrat Ligh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Development of all mobile (driver and passenger) and web applications (bus owners, business partners, showcase website).</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Design and implementation of the functional and technical architecture of the applications.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Creation of user interfaces and UX/UI experience for the different platforms.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Management of deployment and publication on the app stores (App Store, Google Play).</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Maintenance and improvement of existing features to ensure performance and security.</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None/>
            </a:pPr>
            <a:r>
              <a:rPr b="1" lang="en-GB" sz="1200">
                <a:solidFill>
                  <a:srgbClr val="F8485E"/>
                </a:solidFill>
                <a:latin typeface="Montserrat"/>
                <a:ea typeface="Montserrat"/>
                <a:cs typeface="Montserrat"/>
                <a:sym typeface="Montserrat"/>
              </a:rPr>
              <a:t>Deliverable:</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Delivery of mobile applications (drivers, passengers), web applications (bus owners, partners), and a showcase website. Each solution has been developed, tested, and deployed to the stores (App Store, Google Play), ensuring high quality, performance, and security.</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1200">
              <a:solidFill>
                <a:srgbClr val="F8485E"/>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Technical environment:</a:t>
            </a:r>
            <a:endParaRPr b="1" sz="1200">
              <a:solidFill>
                <a:srgbClr val="F8485E"/>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Java 13 , J2EE , Jersey JAX-RS, Hibernate, JDBC , Angular, P4D Cloud,  Firebase Authentication, Firebase, Firestore, jQuery, Angular, Bootstrap, Tailwind CSS, HTML/CSS, Développement mobile native Android (Java), Ionic.</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120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05" name="Google Shape;105;p15"/>
          <p:cNvSpPr txBox="1"/>
          <p:nvPr/>
        </p:nvSpPr>
        <p:spPr>
          <a:xfrm>
            <a:off x="2617000" y="549775"/>
            <a:ext cx="3991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a:t>
            </a:r>
            <a:r>
              <a:rPr b="1" lang="en-GB" sz="1300">
                <a:solidFill>
                  <a:srgbClr val="F8485E"/>
                </a:solidFill>
                <a:latin typeface="Montserrat"/>
                <a:ea typeface="Montserrat"/>
                <a:cs typeface="Montserrat"/>
                <a:sym typeface="Montserrat"/>
              </a:rPr>
              <a:t> EXPERIENCE</a:t>
            </a:r>
            <a:endParaRPr sz="1500"/>
          </a:p>
        </p:txBody>
      </p:sp>
      <p:sp>
        <p:nvSpPr>
          <p:cNvPr id="106" name="Google Shape;106;p15"/>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 name="Google Shape;108;p15"/>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09" name="Google Shape;109;p15"/>
          <p:cNvPicPr preferRelativeResize="0"/>
          <p:nvPr/>
        </p:nvPicPr>
        <p:blipFill>
          <a:blip r:embed="rId4">
            <a:alphaModFix/>
          </a:blip>
          <a:stretch>
            <a:fillRect/>
          </a:stretch>
        </p:blipFill>
        <p:spPr>
          <a:xfrm>
            <a:off x="492978" y="1247570"/>
            <a:ext cx="1779325" cy="1779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nvSpPr>
        <p:spPr>
          <a:xfrm>
            <a:off x="2617000" y="1510050"/>
            <a:ext cx="4768200" cy="8385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Garde Nationale Maritime </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i="1" lang="en-GB" sz="1100">
                <a:solidFill>
                  <a:srgbClr val="3C3C3A"/>
                </a:solidFill>
                <a:latin typeface="Montserrat"/>
                <a:ea typeface="Montserrat"/>
                <a:cs typeface="Montserrat"/>
                <a:sym typeface="Montserrat"/>
              </a:rPr>
              <a:t>Senior Developer / Java JSF</a:t>
            </a:r>
            <a:r>
              <a:rPr b="1" i="1" lang="en-GB" sz="1100">
                <a:solidFill>
                  <a:srgbClr val="3C3C3A"/>
                </a:solidFill>
                <a:latin typeface="Montserrat"/>
                <a:ea typeface="Montserrat"/>
                <a:cs typeface="Montserrat"/>
                <a:sym typeface="Montserrat"/>
              </a:rPr>
              <a:t> </a:t>
            </a:r>
            <a:r>
              <a:rPr b="1" lang="en-GB" sz="1100">
                <a:solidFill>
                  <a:srgbClr val="3C3C3A"/>
                </a:solidFill>
                <a:latin typeface="Montserrat"/>
                <a:ea typeface="Montserrat"/>
                <a:cs typeface="Montserrat"/>
                <a:sym typeface="Montserrat"/>
              </a:rPr>
              <a:t> </a:t>
            </a:r>
            <a:r>
              <a:rPr b="1" lang="en-GB" sz="900">
                <a:solidFill>
                  <a:srgbClr val="3C3C3A"/>
                </a:solidFill>
                <a:latin typeface="Montserrat"/>
                <a:ea typeface="Montserrat"/>
                <a:cs typeface="Montserrat"/>
                <a:sym typeface="Montserrat"/>
              </a:rPr>
              <a:t> </a:t>
            </a:r>
            <a:r>
              <a:rPr b="1" lang="en-GB" sz="900">
                <a:solidFill>
                  <a:srgbClr val="3C3C3A"/>
                </a:solidFill>
                <a:latin typeface="Montserrat"/>
                <a:ea typeface="Montserrat"/>
                <a:cs typeface="Montserrat"/>
                <a:sym typeface="Montserrat"/>
              </a:rPr>
              <a:t>      </a:t>
            </a:r>
            <a:endParaRPr i="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i="1" lang="en-GB" sz="900">
                <a:solidFill>
                  <a:srgbClr val="3C3C3A"/>
                </a:solidFill>
                <a:latin typeface="Montserrat"/>
                <a:ea typeface="Montserrat"/>
                <a:cs typeface="Montserrat"/>
                <a:sym typeface="Montserrat"/>
              </a:rPr>
              <a:t>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Contexte :</a:t>
            </a:r>
            <a:endParaRPr b="1" sz="1200">
              <a:solidFill>
                <a:srgbClr val="F8485E"/>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As a software engineering consultant and web developer for the Tunisian Coast Guard, I facilitated the coordination of critical systems for fleet management and port traffic operations, emphasizing stability and security. I used enterprise-grade technologies to detect fraudulent activity and unauthorized access.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Clr>
                <a:srgbClr val="000000"/>
              </a:buClr>
              <a:buSzPts val="1000"/>
              <a:buFont typeface="Arial"/>
              <a:buNone/>
            </a:pPr>
            <a:r>
              <a:t/>
            </a:r>
            <a:endParaRPr sz="900">
              <a:solidFill>
                <a:srgbClr val="595959"/>
              </a:solidFill>
              <a:highlight>
                <a:schemeClr val="lt1"/>
              </a:highlight>
              <a:latin typeface="Montserrat Light"/>
              <a:ea typeface="Montserrat Light"/>
              <a:cs typeface="Montserrat Light"/>
              <a:sym typeface="Montserrat Ligh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Responsabilités :</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Development of solutions centered on a robust reporting infrastructure to enable quick action and improve security measures.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Management of secure access and storage of sensitive documents across various levels of authority and geographic locations.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Design and development of algorithms to identify and flag violations, providing real-time information to stakeholders.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Management of user access levels based on their authorization, ensuring rigorous data management and controlled access.</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900">
              <a:solidFill>
                <a:srgbClr val="3C3C3A"/>
              </a:solidFill>
              <a:latin typeface="Montserrat Light"/>
              <a:ea typeface="Montserrat Light"/>
              <a:cs typeface="Montserrat Light"/>
              <a:sym typeface="Montserrat Light"/>
            </a:endParaRPr>
          </a:p>
          <a:p>
            <a:pPr indent="0" lvl="0" marL="0" rtl="0" algn="just">
              <a:lnSpc>
                <a:spcPct val="150000"/>
              </a:lnSpc>
              <a:spcBef>
                <a:spcPts val="0"/>
              </a:spcBef>
              <a:spcAft>
                <a:spcPts val="0"/>
              </a:spcAft>
              <a:buClr>
                <a:schemeClr val="dk1"/>
              </a:buClr>
              <a:buSzPts val="1400"/>
              <a:buFont typeface="Arial"/>
              <a:buNone/>
            </a:pPr>
            <a:r>
              <a:rPr b="1" lang="en-GB" sz="1200">
                <a:solidFill>
                  <a:srgbClr val="F8485E"/>
                </a:solidFill>
                <a:latin typeface="Montserrat"/>
                <a:ea typeface="Montserrat"/>
                <a:cs typeface="Montserrat"/>
                <a:sym typeface="Montserrat"/>
              </a:rPr>
              <a:t>Deliverable:</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The project resulted in the implementation of a fleet and port traffic management system, featuring a secure platform for storing sensitive documents and real-time reporting. Algorithms were developed to detect violations and provide immediate information to stakeholders.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Technical environment:</a:t>
            </a:r>
            <a:endParaRPr b="1"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Java 8 , JSF, PrimeFaces,, MySQL, Angular, Bootstrap, AdminLTE, Hibernate, jBoss, PicketLink, i18n, Html CSS, jQuery, Ajax, Quartz.</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120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15" name="Google Shape;115;p16"/>
          <p:cNvSpPr txBox="1"/>
          <p:nvPr/>
        </p:nvSpPr>
        <p:spPr>
          <a:xfrm>
            <a:off x="2617000" y="549775"/>
            <a:ext cx="3991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 EXPERIENCE</a:t>
            </a:r>
            <a:endParaRPr sz="1500"/>
          </a:p>
        </p:txBody>
      </p:sp>
      <p:sp>
        <p:nvSpPr>
          <p:cNvPr id="116" name="Google Shape;116;p16"/>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 name="Google Shape;118;p16"/>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19" name="Google Shape;119;p16"/>
          <p:cNvPicPr preferRelativeResize="0"/>
          <p:nvPr/>
        </p:nvPicPr>
        <p:blipFill>
          <a:blip r:embed="rId4">
            <a:alphaModFix/>
          </a:blip>
          <a:stretch>
            <a:fillRect/>
          </a:stretch>
        </p:blipFill>
        <p:spPr>
          <a:xfrm>
            <a:off x="830875" y="1510050"/>
            <a:ext cx="889000" cy="88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nvSpPr>
        <p:spPr>
          <a:xfrm>
            <a:off x="2413525" y="1546200"/>
            <a:ext cx="5146500" cy="8349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First Delivery Group</a:t>
            </a:r>
            <a:r>
              <a:rPr b="1" lang="en-GB" sz="1100">
                <a:solidFill>
                  <a:srgbClr val="3C3C3A"/>
                </a:solidFill>
                <a:highlight>
                  <a:srgbClr val="FFFFFF"/>
                </a:highlight>
                <a:latin typeface="Montserrat"/>
                <a:ea typeface="Montserrat"/>
                <a:cs typeface="Montserrat"/>
                <a:sym typeface="Montserrat"/>
              </a:rPr>
              <a:t> </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i="1" lang="en-GB" sz="1100">
                <a:solidFill>
                  <a:srgbClr val="3C3C3A"/>
                </a:solidFill>
                <a:latin typeface="Montserrat"/>
                <a:ea typeface="Montserrat"/>
                <a:cs typeface="Montserrat"/>
                <a:sym typeface="Montserrat"/>
              </a:rPr>
              <a:t>Node JS Developer</a:t>
            </a:r>
            <a:br>
              <a:rPr b="1" lang="en-GB" sz="900">
                <a:solidFill>
                  <a:srgbClr val="3C3C3A"/>
                </a:solidFill>
                <a:latin typeface="Montserrat"/>
                <a:ea typeface="Montserrat"/>
                <a:cs typeface="Montserrat"/>
                <a:sym typeface="Montserrat"/>
              </a:rPr>
            </a:br>
            <a:r>
              <a:rPr i="1" lang="en-GB" sz="900">
                <a:solidFill>
                  <a:srgbClr val="3C3C3A"/>
                </a:solidFill>
                <a:latin typeface="Montserrat"/>
                <a:ea typeface="Montserrat"/>
                <a:cs typeface="Montserrat"/>
                <a:sym typeface="Montserrat"/>
              </a:rPr>
              <a:t>  </a:t>
            </a:r>
            <a:endParaRPr i="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i="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Context:</a:t>
            </a:r>
            <a:endParaRPr b="1" sz="1200">
              <a:solidFill>
                <a:srgbClr val="F8485E"/>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The project involved developing a comprehensive system to manage all operations of a delivery company, including package collection, delivery agent assignment, package tracking by users, as well as billing management and logistics backlog.</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Managing partners: registering, tracking, and updating customer-related information in the system.</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Developing and managing the financial aspect of the application, including billing for services and payment collection.</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Tracking financial transactions related to drivers at the end of their shifts.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Integrating mechanisms for managing commissions and fees associated with delivery services.</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900">
              <a:solidFill>
                <a:srgbClr val="3C3C3A"/>
              </a:solidFill>
              <a:latin typeface="Montserrat Light"/>
              <a:ea typeface="Montserrat Light"/>
              <a:cs typeface="Montserrat Light"/>
              <a:sym typeface="Montserrat Light"/>
            </a:endParaRPr>
          </a:p>
          <a:p>
            <a:pPr indent="0" lvl="0" marL="0" rtl="0" algn="just">
              <a:lnSpc>
                <a:spcPct val="150000"/>
              </a:lnSpc>
              <a:spcBef>
                <a:spcPts val="0"/>
              </a:spcBef>
              <a:spcAft>
                <a:spcPts val="0"/>
              </a:spcAft>
              <a:buNone/>
            </a:pPr>
            <a:r>
              <a:rPr b="1" lang="en-GB" sz="1200">
                <a:solidFill>
                  <a:srgbClr val="F8485E"/>
                </a:solidFill>
                <a:latin typeface="Montserrat"/>
                <a:ea typeface="Montserrat"/>
                <a:cs typeface="Montserrat"/>
                <a:sym typeface="Montserrat"/>
              </a:rPr>
              <a:t>Deliverable:</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A comprehensive delivery operation management system was developed, enabling seamless management of partners, package collection, and agent assignment. The financial aspect was integrated, with billing and payment collection functionalities, as well as tracking of drivers' financial transactions. Commission and fee management mechanisms were implemented to optimize logistics processes and ensure transparency of operations.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Technical environment:</a:t>
            </a:r>
            <a:endParaRPr b="1"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Koa.js, GitHub Actions, Jira, Vitest, PostgreSQL, Prisma, Vue.js, Angular, Tailwind CSS, OVH Cloud.</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120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25" name="Google Shape;125;p17"/>
          <p:cNvSpPr txBox="1"/>
          <p:nvPr/>
        </p:nvSpPr>
        <p:spPr>
          <a:xfrm>
            <a:off x="2473875" y="549775"/>
            <a:ext cx="41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 EXPERIENCE</a:t>
            </a:r>
            <a:endParaRPr sz="1500"/>
          </a:p>
        </p:txBody>
      </p:sp>
      <p:sp>
        <p:nvSpPr>
          <p:cNvPr id="126" name="Google Shape;126;p17"/>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 name="Google Shape;128;p17"/>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29" name="Google Shape;129;p17"/>
          <p:cNvPicPr preferRelativeResize="0"/>
          <p:nvPr/>
        </p:nvPicPr>
        <p:blipFill>
          <a:blip r:embed="rId4">
            <a:alphaModFix/>
          </a:blip>
          <a:stretch>
            <a:fillRect/>
          </a:stretch>
        </p:blipFill>
        <p:spPr>
          <a:xfrm>
            <a:off x="748475" y="1619050"/>
            <a:ext cx="1053825" cy="1053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nvSpPr>
        <p:spPr>
          <a:xfrm>
            <a:off x="2413525" y="1546200"/>
            <a:ext cx="5146500" cy="8349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First Delivery Group</a:t>
            </a:r>
            <a:r>
              <a:rPr b="1" lang="en-GB" sz="1100">
                <a:solidFill>
                  <a:srgbClr val="3C3C3A"/>
                </a:solidFill>
                <a:highlight>
                  <a:srgbClr val="FFFFFF"/>
                </a:highlight>
                <a:latin typeface="Montserrat"/>
                <a:ea typeface="Montserrat"/>
                <a:cs typeface="Montserrat"/>
                <a:sym typeface="Montserrat"/>
              </a:rPr>
              <a:t> </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i="1" lang="en-GB" sz="1100">
                <a:solidFill>
                  <a:srgbClr val="3C3C3A"/>
                </a:solidFill>
                <a:latin typeface="Montserrat"/>
                <a:ea typeface="Montserrat"/>
                <a:cs typeface="Montserrat"/>
                <a:sym typeface="Montserrat"/>
              </a:rPr>
              <a:t>Full Stack Java Developer</a:t>
            </a:r>
            <a:r>
              <a:rPr b="1" lang="en-GB" sz="900">
                <a:solidFill>
                  <a:srgbClr val="3C3C3A"/>
                </a:solidFill>
                <a:latin typeface="Montserrat"/>
                <a:ea typeface="Montserrat"/>
                <a:cs typeface="Montserrat"/>
                <a:sym typeface="Montserrat"/>
              </a:rPr>
              <a:t>  </a:t>
            </a:r>
            <a:br>
              <a:rPr b="1" lang="en-GB" sz="900">
                <a:solidFill>
                  <a:srgbClr val="3C3C3A"/>
                </a:solidFill>
                <a:latin typeface="Montserrat"/>
                <a:ea typeface="Montserrat"/>
                <a:cs typeface="Montserrat"/>
                <a:sym typeface="Montserrat"/>
              </a:rPr>
            </a:br>
            <a:r>
              <a:rPr i="1" lang="en-GB" sz="900">
                <a:solidFill>
                  <a:srgbClr val="3C3C3A"/>
                </a:solidFill>
                <a:latin typeface="Montserrat"/>
                <a:ea typeface="Montserrat"/>
                <a:cs typeface="Montserrat"/>
                <a:sym typeface="Montserrat"/>
              </a:rPr>
              <a:t>  </a:t>
            </a:r>
            <a:endParaRPr i="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i="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Context :</a:t>
            </a:r>
            <a:endParaRPr b="1" sz="1200">
              <a:solidFill>
                <a:srgbClr val="F8485E"/>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For my first deliverable, I developed a web-based treasury application that allows each department to track its expenses and profits across different sites in several cities across Tunisia. This application aimed to provide a centralized view of financial flows, thereby facilitating administrative control of transactions to ensure rigorous and efficient management.</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Developed a web-based treasury management application to track expenses and profits by department across multiple cities.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Designed the functional and technical architecture, integrated financial flows, and generated reports.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Created the user interface with a strong focus on UX/UI.</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Deployed to the cloud and managed the security of sensitive data.</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Provided ongoing maintenance and enhancements to optimize performance and meet user needs.</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900">
              <a:solidFill>
                <a:srgbClr val="3C3C3A"/>
              </a:solidFill>
              <a:latin typeface="Montserrat Light"/>
              <a:ea typeface="Montserrat Light"/>
              <a:cs typeface="Montserrat Light"/>
              <a:sym typeface="Montserrat Light"/>
            </a:endParaRPr>
          </a:p>
          <a:p>
            <a:pPr indent="0" lvl="0" marL="0" rtl="0" algn="just">
              <a:lnSpc>
                <a:spcPct val="150000"/>
              </a:lnSpc>
              <a:spcBef>
                <a:spcPts val="0"/>
              </a:spcBef>
              <a:spcAft>
                <a:spcPts val="0"/>
              </a:spcAft>
              <a:buNone/>
            </a:pPr>
            <a:r>
              <a:rPr b="1" lang="en-GB" sz="1200">
                <a:solidFill>
                  <a:srgbClr val="F8485E"/>
                </a:solidFill>
                <a:latin typeface="Montserrat"/>
                <a:ea typeface="Montserrat"/>
                <a:cs typeface="Montserrat"/>
                <a:sym typeface="Montserrat"/>
              </a:rPr>
              <a:t>Deliverable:</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The web application allows expense and profit tracking by department across different cities. It facilitates communication between department heads and administration while providing an electronic record of all overall transactions, exportable and shareable with the finance team.</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Technical environment:</a:t>
            </a:r>
            <a:endParaRPr b="1"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Java 13 , J2EE ; MySQL ; Docker ; Hibernate ; Bootstrap ; jQuery, AdobeXD.</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120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35" name="Google Shape;135;p18"/>
          <p:cNvSpPr txBox="1"/>
          <p:nvPr/>
        </p:nvSpPr>
        <p:spPr>
          <a:xfrm>
            <a:off x="2473875" y="549775"/>
            <a:ext cx="41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 EXPERIENCE</a:t>
            </a:r>
            <a:endParaRPr sz="1500"/>
          </a:p>
        </p:txBody>
      </p:sp>
      <p:sp>
        <p:nvSpPr>
          <p:cNvPr id="136" name="Google Shape;136;p18"/>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 name="Google Shape;138;p18"/>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39" name="Google Shape;139;p18"/>
          <p:cNvPicPr preferRelativeResize="0"/>
          <p:nvPr/>
        </p:nvPicPr>
        <p:blipFill>
          <a:blip r:embed="rId4">
            <a:alphaModFix/>
          </a:blip>
          <a:stretch>
            <a:fillRect/>
          </a:stretch>
        </p:blipFill>
        <p:spPr>
          <a:xfrm>
            <a:off x="748475" y="1619050"/>
            <a:ext cx="1053825" cy="1053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nvSpPr>
        <p:spPr>
          <a:xfrm>
            <a:off x="2473875" y="1303550"/>
            <a:ext cx="4919100" cy="8600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b="1" lang="en-GB" sz="1100">
                <a:solidFill>
                  <a:srgbClr val="F8485E"/>
                </a:solidFill>
                <a:highlight>
                  <a:srgbClr val="FFFFFF"/>
                </a:highlight>
                <a:latin typeface="Montserrat"/>
                <a:ea typeface="Montserrat"/>
                <a:cs typeface="Montserrat"/>
                <a:sym typeface="Montserrat"/>
              </a:rPr>
              <a:t>The Institute of the Francophonie for Sustainable Development</a:t>
            </a:r>
            <a:endParaRPr b="1" sz="1100">
              <a:solidFill>
                <a:srgbClr val="F8485E"/>
              </a:solidFill>
              <a:highlight>
                <a:srgbClr val="FFFFFF"/>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i="1" lang="en-GB" sz="1100">
                <a:solidFill>
                  <a:srgbClr val="3C3C3A"/>
                </a:solidFill>
                <a:latin typeface="Montserrat"/>
                <a:ea typeface="Montserrat"/>
                <a:cs typeface="Montserrat"/>
                <a:sym typeface="Montserrat"/>
              </a:rPr>
              <a:t>Développeur Mobile (Java Android)</a:t>
            </a:r>
            <a:endParaRPr i="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i="1" lang="en-GB" sz="900">
                <a:solidFill>
                  <a:srgbClr val="3C3C3A"/>
                </a:solidFill>
                <a:latin typeface="Montserrat"/>
                <a:ea typeface="Montserrat"/>
                <a:cs typeface="Montserrat"/>
                <a:sym typeface="Montserrat"/>
              </a:rPr>
              <a:t>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400"/>
              <a:buFont typeface="Arial"/>
              <a:buNone/>
            </a:pPr>
            <a:r>
              <a:rPr b="1" lang="en-GB" sz="1200">
                <a:solidFill>
                  <a:srgbClr val="F8485E"/>
                </a:solidFill>
                <a:latin typeface="Montserrat"/>
                <a:ea typeface="Montserrat"/>
                <a:cs typeface="Montserrat"/>
                <a:sym typeface="Montserrat"/>
              </a:rPr>
              <a:t>Contexte:</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As a software engineering consultant and mobile developer for the Institute of the Francophonie for Sustainable Development, I developed a mobile application specifically for farmers in rural areas with low-cost phones. This application offers advice on land development based on climate and soil type.</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Designed a mobile application with audio-visual descriptions to help farmers optimize land use.</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Conducted extensive research and collaborated with experts to gain a deeper understanding of farming practices and user needs.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Developed a comprehensive solution integrating technical and agricultural knowledge to deliver real value to rural communities.</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900">
              <a:solidFill>
                <a:srgbClr val="3C3C3A"/>
              </a:solidFill>
              <a:latin typeface="Montserrat Light"/>
              <a:ea typeface="Montserrat Light"/>
              <a:cs typeface="Montserrat Light"/>
              <a:sym typeface="Montserrat Light"/>
            </a:endParaRPr>
          </a:p>
          <a:p>
            <a:pPr indent="0" lvl="0" marL="0" rtl="0" algn="just">
              <a:lnSpc>
                <a:spcPct val="150000"/>
              </a:lnSpc>
              <a:spcBef>
                <a:spcPts val="0"/>
              </a:spcBef>
              <a:spcAft>
                <a:spcPts val="0"/>
              </a:spcAft>
              <a:buNone/>
            </a:pPr>
            <a:r>
              <a:rPr b="1" lang="en-GB" sz="1200">
                <a:solidFill>
                  <a:srgbClr val="F8485E"/>
                </a:solidFill>
                <a:latin typeface="Montserrat"/>
                <a:ea typeface="Montserrat"/>
                <a:cs typeface="Montserrat"/>
                <a:sym typeface="Montserrat"/>
              </a:rPr>
              <a:t>Deliverable:</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The developed mobile application provides farmers with practical, location-specific advice to improve land use, with clear instructions via audio-visual descriptions. It also enables simple interaction, suitable for low-cost phones, and addresses the specific needs of rural areas.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Technical environment:</a:t>
            </a:r>
            <a:endParaRPr b="1" sz="12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Java, Andoid, XML, Firebase Analytics, Text to speech</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45" name="Google Shape;145;p19"/>
          <p:cNvSpPr txBox="1"/>
          <p:nvPr/>
        </p:nvSpPr>
        <p:spPr>
          <a:xfrm>
            <a:off x="2473875" y="549775"/>
            <a:ext cx="41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 EXPERIENCE</a:t>
            </a:r>
            <a:endParaRPr sz="1500"/>
          </a:p>
        </p:txBody>
      </p:sp>
      <p:sp>
        <p:nvSpPr>
          <p:cNvPr id="146" name="Google Shape;146;p19"/>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9"/>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9"/>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49" name="Google Shape;149;p19"/>
          <p:cNvPicPr preferRelativeResize="0"/>
          <p:nvPr/>
        </p:nvPicPr>
        <p:blipFill>
          <a:blip r:embed="rId4">
            <a:alphaModFix/>
          </a:blip>
          <a:stretch>
            <a:fillRect/>
          </a:stretch>
        </p:blipFill>
        <p:spPr>
          <a:xfrm>
            <a:off x="599912" y="1397975"/>
            <a:ext cx="1350950" cy="1350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nvSpPr>
        <p:spPr>
          <a:xfrm>
            <a:off x="2473875" y="1303550"/>
            <a:ext cx="5004300" cy="8600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Ionbond IHI Group</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100">
                <a:solidFill>
                  <a:srgbClr val="3C3C3A"/>
                </a:solidFill>
                <a:latin typeface="Montserrat"/>
                <a:ea typeface="Montserrat"/>
                <a:cs typeface="Montserrat"/>
                <a:sym typeface="Montserrat"/>
              </a:rPr>
              <a:t>Mobile Developer (Android Java)</a:t>
            </a:r>
            <a:endParaRPr b="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400"/>
              <a:buFont typeface="Arial"/>
              <a:buNone/>
            </a:pPr>
            <a:r>
              <a:rPr b="1" lang="en-GB" sz="1200">
                <a:solidFill>
                  <a:srgbClr val="F8485E"/>
                </a:solidFill>
                <a:latin typeface="Montserrat"/>
                <a:ea typeface="Montserrat"/>
                <a:cs typeface="Montserrat"/>
                <a:sym typeface="Montserrat"/>
              </a:rPr>
              <a:t>Context: </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The project aimed to create a solution that enables factory workers to quickly resolve common breakdowns by accessing a catalog of tailored solutions, thereby reducing downtime and enabling optimal production continuity.</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Developed the mobile application for managing breakdowns and solutions.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Collaborated with the client to define and analyze different use cases.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Designed a scalable and extensible solution without requiring access to the source code.</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Implemented offline support for continuous use in varied conditions.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Managed multiple scenarios and adapted the application to various specific user needs.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Deliverable: </a:t>
            </a:r>
            <a:endParaRPr b="1" sz="1200">
              <a:solidFill>
                <a:srgbClr val="F8485E"/>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latin typeface="Montserrat"/>
                <a:ea typeface="Montserrat"/>
                <a:cs typeface="Montserrat"/>
                <a:sym typeface="Montserrat"/>
              </a:rPr>
              <a:t>The application allows adding breakdowns and their solutions via readable JSON files, facilitating its extension without modifying the source code. It offers workers quick access to solutions in three clicks, thereby optimizing troubleshooting and reducing downtime. Dynamic generation of user interfaces manages different types of visuals and images in real time. In addition, the analyzed data can be exported to Excel files, making it easy to share results with team members.</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Functional and technical environment:</a:t>
            </a:r>
            <a:endParaRPr b="1" sz="12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Java, Andoid, XML, Adobe XD, JSON</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55" name="Google Shape;155;p20"/>
          <p:cNvSpPr txBox="1"/>
          <p:nvPr/>
        </p:nvSpPr>
        <p:spPr>
          <a:xfrm>
            <a:off x="2473875" y="549775"/>
            <a:ext cx="41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 EXPERIENCE</a:t>
            </a:r>
            <a:endParaRPr sz="1500"/>
          </a:p>
        </p:txBody>
      </p:sp>
      <p:sp>
        <p:nvSpPr>
          <p:cNvPr id="156" name="Google Shape;156;p20"/>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0"/>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20"/>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59" name="Google Shape;159;p20"/>
          <p:cNvPicPr preferRelativeResize="0"/>
          <p:nvPr/>
        </p:nvPicPr>
        <p:blipFill>
          <a:blip r:embed="rId4">
            <a:alphaModFix/>
          </a:blip>
          <a:stretch>
            <a:fillRect/>
          </a:stretch>
        </p:blipFill>
        <p:spPr>
          <a:xfrm>
            <a:off x="652575" y="1361900"/>
            <a:ext cx="1245625" cy="1245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nvSpPr>
        <p:spPr>
          <a:xfrm>
            <a:off x="2473875" y="1303550"/>
            <a:ext cx="5004300" cy="8600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Telnet Holding</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100">
                <a:solidFill>
                  <a:srgbClr val="3C3C3A"/>
                </a:solidFill>
                <a:latin typeface="Montserrat"/>
                <a:ea typeface="Montserrat"/>
                <a:cs typeface="Montserrat"/>
                <a:sym typeface="Montserrat"/>
              </a:rPr>
              <a:t>Intern (Java Developer)</a:t>
            </a:r>
            <a:endParaRPr b="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400"/>
              <a:buFont typeface="Arial"/>
              <a:buNone/>
            </a:pPr>
            <a:r>
              <a:rPr b="1" lang="en-GB" sz="1200">
                <a:solidFill>
                  <a:srgbClr val="F8485E"/>
                </a:solidFill>
                <a:latin typeface="Montserrat"/>
                <a:ea typeface="Montserrat"/>
                <a:cs typeface="Montserrat"/>
                <a:sym typeface="Montserrat"/>
              </a:rPr>
              <a:t>Context: </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Developers working on electronic payment terminals face difficulties troubleshooting their devices because they have to manually analyze the database content. There was a need for a tool that would enable automatic parsing and error detection.</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Analyze Ingenic standard database schema for payment terminals (POS)</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Develop an algorithm to parse hexadecimal dumps and display them in a user-readable format.</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Create a drag-and-drop user interface for easy dump file processing.</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Add an export function for analyzed data to Excel format, including converting hexadecimal values to text and readable values.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Deliverable: </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latin typeface="Montserrat"/>
                <a:ea typeface="Montserrat"/>
                <a:cs typeface="Montserrat"/>
                <a:sym typeface="Montserrat"/>
              </a:rPr>
              <a:t>The project successfully developed an application that automatically parses hexadecimal dumps, converts them into a readable format, and displays them in a user-friendly interface. The results can be exported to Excel, facilitating the sharing of analyzed data with team members and simplifying the management of errors in electronic payment terminals.</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Functional and technical environment:</a:t>
            </a:r>
            <a:endParaRPr b="1" sz="12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Java, JavaFX,  JAXB, XML, Encoding/Decoding, POI Library, SVN</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65" name="Google Shape;165;p21"/>
          <p:cNvSpPr txBox="1"/>
          <p:nvPr/>
        </p:nvSpPr>
        <p:spPr>
          <a:xfrm>
            <a:off x="2473875" y="549775"/>
            <a:ext cx="41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PROFESSIONAL EXPERIENCE</a:t>
            </a:r>
            <a:endParaRPr sz="1500"/>
          </a:p>
        </p:txBody>
      </p:sp>
      <p:sp>
        <p:nvSpPr>
          <p:cNvPr id="166" name="Google Shape;166;p21"/>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1"/>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1"/>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69" name="Google Shape;169;p21"/>
          <p:cNvPicPr preferRelativeResize="0"/>
          <p:nvPr/>
        </p:nvPicPr>
        <p:blipFill>
          <a:blip r:embed="rId4">
            <a:alphaModFix/>
          </a:blip>
          <a:stretch>
            <a:fillRect/>
          </a:stretch>
        </p:blipFill>
        <p:spPr>
          <a:xfrm>
            <a:off x="540788" y="1102875"/>
            <a:ext cx="1410550" cy="141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nvSpPr>
        <p:spPr>
          <a:xfrm>
            <a:off x="2473875" y="1303550"/>
            <a:ext cx="5004300" cy="8600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rgbClr val="000000"/>
              </a:buClr>
              <a:buSzPts val="1400"/>
              <a:buFont typeface="Arial"/>
              <a:buNone/>
            </a:pPr>
            <a:r>
              <a:rPr b="1" lang="en-GB" sz="1100">
                <a:solidFill>
                  <a:srgbClr val="F8485E"/>
                </a:solidFill>
                <a:highlight>
                  <a:srgbClr val="FFFFFF"/>
                </a:highlight>
                <a:latin typeface="Montserrat"/>
                <a:ea typeface="Montserrat"/>
                <a:cs typeface="Montserrat"/>
                <a:sym typeface="Montserrat"/>
              </a:rPr>
              <a:t>SIAM </a:t>
            </a:r>
            <a:endParaRPr b="1" i="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100">
                <a:solidFill>
                  <a:srgbClr val="3C3C3A"/>
                </a:solidFill>
                <a:latin typeface="Montserrat"/>
                <a:ea typeface="Montserrat"/>
                <a:cs typeface="Montserrat"/>
                <a:sym typeface="Montserrat"/>
              </a:rPr>
              <a:t>Technical Consultant</a:t>
            </a:r>
            <a:endParaRPr b="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11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400"/>
              <a:buFont typeface="Arial"/>
              <a:buNone/>
            </a:pPr>
            <a:r>
              <a:rPr b="1" lang="en-GB" sz="1200">
                <a:solidFill>
                  <a:srgbClr val="F8485E"/>
                </a:solidFill>
                <a:latin typeface="Montserrat"/>
                <a:ea typeface="Montserrat"/>
                <a:cs typeface="Montserrat"/>
                <a:sym typeface="Montserrat"/>
              </a:rPr>
              <a:t>Context: </a:t>
            </a:r>
            <a:endParaRPr b="1" sz="1200">
              <a:solidFill>
                <a:srgbClr val="F8485E"/>
              </a:solidFill>
              <a:latin typeface="Montserrat"/>
              <a:ea typeface="Montserrat"/>
              <a:cs typeface="Montserrat"/>
              <a:sym typeface="Montserrat"/>
            </a:endParaRPr>
          </a:p>
          <a:p>
            <a:pPr indent="0" lvl="0" marL="0" rtl="0" algn="just">
              <a:lnSpc>
                <a:spcPct val="150000"/>
              </a:lnSpc>
              <a:spcBef>
                <a:spcPts val="600"/>
              </a:spcBef>
              <a:spcAft>
                <a:spcPts val="0"/>
              </a:spcAft>
              <a:buNone/>
            </a:pPr>
            <a:r>
              <a:rPr lang="en-GB" sz="900">
                <a:solidFill>
                  <a:schemeClr val="dk1"/>
                </a:solidFill>
                <a:highlight>
                  <a:schemeClr val="lt1"/>
                </a:highlight>
                <a:latin typeface="Montserrat"/>
                <a:ea typeface="Montserrat"/>
                <a:cs typeface="Montserrat"/>
                <a:sym typeface="Montserrat"/>
              </a:rPr>
              <a:t>The company SIAM was facing challenges in customizing its VoIP telephone system to meet the specific needs of its various teams. In addition, the company's online visibility needed improvement to better position itself in its field.</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rgbClr val="000000"/>
              </a:buClr>
              <a:buSzPts val="1400"/>
              <a:buFont typeface="Arial"/>
              <a:buNone/>
            </a:pPr>
            <a:r>
              <a:rPr b="1" lang="en-GB" sz="1200">
                <a:solidFill>
                  <a:srgbClr val="F8485E"/>
                </a:solidFill>
                <a:latin typeface="Montserrat"/>
                <a:ea typeface="Montserrat"/>
                <a:cs typeface="Montserrat"/>
                <a:sym typeface="Montserrat"/>
              </a:rPr>
              <a:t>Responsibilities:</a:t>
            </a:r>
            <a:endParaRPr b="1" sz="1200">
              <a:solidFill>
                <a:srgbClr val="F8485E"/>
              </a:solidFill>
              <a:latin typeface="Montserrat"/>
              <a:ea typeface="Montserrat"/>
              <a:cs typeface="Montserrat"/>
              <a:sym typeface="Montserrat"/>
            </a:endParaRPr>
          </a:p>
          <a:p>
            <a:pPr indent="-285750" lvl="0" marL="457200" rtl="0" algn="just">
              <a:lnSpc>
                <a:spcPct val="150000"/>
              </a:lnSpc>
              <a:spcBef>
                <a:spcPts val="60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System access management, user account management, and configuration customization to meet the specific needs of the company.</a:t>
            </a:r>
            <a:endParaRPr sz="900">
              <a:solidFill>
                <a:schemeClr val="dk1"/>
              </a:solidFill>
              <a:highlight>
                <a:schemeClr val="lt1"/>
              </a:highlight>
              <a:latin typeface="Montserrat"/>
              <a:ea typeface="Montserrat"/>
              <a:cs typeface="Montserrat"/>
              <a:sym typeface="Montserrat"/>
            </a:endParaRPr>
          </a:p>
          <a:p>
            <a:pPr indent="-285750" lvl="0" marL="457200" rtl="0" algn="just">
              <a:lnSpc>
                <a:spcPct val="150000"/>
              </a:lnSpc>
              <a:spcBef>
                <a:spcPts val="0"/>
              </a:spcBef>
              <a:spcAft>
                <a:spcPts val="0"/>
              </a:spcAft>
              <a:buClr>
                <a:schemeClr val="dk1"/>
              </a:buClr>
              <a:buSzPts val="900"/>
              <a:buFont typeface="Montserrat"/>
              <a:buChar char="●"/>
            </a:pPr>
            <a:r>
              <a:rPr lang="en-GB" sz="900">
                <a:solidFill>
                  <a:schemeClr val="dk1"/>
                </a:solidFill>
                <a:highlight>
                  <a:schemeClr val="lt1"/>
                </a:highlight>
                <a:latin typeface="Montserrat"/>
                <a:ea typeface="Montserrat"/>
                <a:cs typeface="Montserrat"/>
                <a:sym typeface="Montserrat"/>
              </a:rPr>
              <a:t>Assistance with the implementation, configuration, and deployment of XiVO on local servers.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600"/>
              </a:spcBef>
              <a:spcAft>
                <a:spcPts val="0"/>
              </a:spcAft>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Deliverable: </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latin typeface="Montserrat"/>
                <a:ea typeface="Montserrat"/>
                <a:cs typeface="Montserrat"/>
                <a:sym typeface="Montserrat"/>
              </a:rPr>
              <a:t>The project resulted in the implementation of a fully customized XiVO VoIP telephone system, tailored to the specific needs of the company.</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GB" sz="1200">
                <a:solidFill>
                  <a:srgbClr val="F8485E"/>
                </a:solidFill>
                <a:latin typeface="Montserrat"/>
                <a:ea typeface="Montserrat"/>
                <a:cs typeface="Montserrat"/>
                <a:sym typeface="Montserrat"/>
              </a:rPr>
              <a:t>Functional and technical environment:</a:t>
            </a:r>
            <a:endParaRPr b="1" sz="12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lang="en-GB" sz="900">
                <a:solidFill>
                  <a:schemeClr val="dk1"/>
                </a:solidFill>
                <a:highlight>
                  <a:schemeClr val="lt1"/>
                </a:highlight>
                <a:latin typeface="Montserrat"/>
                <a:ea typeface="Montserrat"/>
                <a:cs typeface="Montserrat"/>
                <a:sym typeface="Montserrat"/>
              </a:rPr>
              <a:t>CENTOS, IPBX, XiVo, PostGres, Html CSS</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latin typeface="Montserrat"/>
              <a:ea typeface="Montserrat"/>
              <a:cs typeface="Montserrat"/>
              <a:sym typeface="Montserrat"/>
            </a:endParaRPr>
          </a:p>
          <a:p>
            <a:pPr indent="0" lvl="0" marL="457200" rtl="0" algn="just">
              <a:lnSpc>
                <a:spcPct val="150000"/>
              </a:lnSpc>
              <a:spcBef>
                <a:spcPts val="600"/>
              </a:spcBef>
              <a:spcAft>
                <a:spcPts val="0"/>
              </a:spcAft>
              <a:buNone/>
            </a:pPr>
            <a:r>
              <a:t/>
            </a:r>
            <a:endParaRPr b="1" sz="900">
              <a:solidFill>
                <a:srgbClr val="3C3C3A"/>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b="1" sz="900">
              <a:solidFill>
                <a:srgbClr val="3C3C3A"/>
              </a:solidFill>
              <a:latin typeface="Montserrat"/>
              <a:ea typeface="Montserrat"/>
              <a:cs typeface="Montserrat"/>
              <a:sym typeface="Montserrat"/>
            </a:endParaRPr>
          </a:p>
        </p:txBody>
      </p:sp>
      <p:sp>
        <p:nvSpPr>
          <p:cNvPr id="175" name="Google Shape;175;p22"/>
          <p:cNvSpPr txBox="1"/>
          <p:nvPr/>
        </p:nvSpPr>
        <p:spPr>
          <a:xfrm>
            <a:off x="2473875" y="549775"/>
            <a:ext cx="41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rgbClr val="F8485E"/>
                </a:solidFill>
                <a:latin typeface="Montserrat"/>
                <a:ea typeface="Montserrat"/>
                <a:cs typeface="Montserrat"/>
                <a:sym typeface="Montserrat"/>
              </a:rPr>
              <a:t>EXPERIENCES PROFESSIONNELLES</a:t>
            </a:r>
            <a:endParaRPr sz="1500"/>
          </a:p>
        </p:txBody>
      </p:sp>
      <p:sp>
        <p:nvSpPr>
          <p:cNvPr id="176" name="Google Shape;176;p22"/>
          <p:cNvSpPr/>
          <p:nvPr/>
        </p:nvSpPr>
        <p:spPr>
          <a:xfrm>
            <a:off x="3202663" y="-9369025"/>
            <a:ext cx="10767000" cy="107670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2"/>
          <p:cNvSpPr/>
          <p:nvPr/>
        </p:nvSpPr>
        <p:spPr>
          <a:xfrm>
            <a:off x="-884025" y="9277400"/>
            <a:ext cx="3357900" cy="3357900"/>
          </a:xfrm>
          <a:prstGeom prst="ellipse">
            <a:avLst/>
          </a:prstGeom>
          <a:solidFill>
            <a:srgbClr val="EFEA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8" name="Google Shape;178;p22"/>
          <p:cNvPicPr preferRelativeResize="0"/>
          <p:nvPr/>
        </p:nvPicPr>
        <p:blipFill rotWithShape="1">
          <a:blip r:embed="rId3">
            <a:alphaModFix/>
          </a:blip>
          <a:srcRect b="29" l="0" r="0" t="29"/>
          <a:stretch/>
        </p:blipFill>
        <p:spPr>
          <a:xfrm>
            <a:off x="540800" y="88225"/>
            <a:ext cx="1469184" cy="612301"/>
          </a:xfrm>
          <a:prstGeom prst="rect">
            <a:avLst/>
          </a:prstGeom>
          <a:noFill/>
          <a:ln>
            <a:noFill/>
          </a:ln>
        </p:spPr>
      </p:pic>
      <p:pic>
        <p:nvPicPr>
          <p:cNvPr id="179" name="Google Shape;179;p22"/>
          <p:cNvPicPr preferRelativeResize="0"/>
          <p:nvPr/>
        </p:nvPicPr>
        <p:blipFill>
          <a:blip r:embed="rId4">
            <a:alphaModFix/>
          </a:blip>
          <a:stretch>
            <a:fillRect/>
          </a:stretch>
        </p:blipFill>
        <p:spPr>
          <a:xfrm>
            <a:off x="540800" y="1362047"/>
            <a:ext cx="1338925" cy="713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